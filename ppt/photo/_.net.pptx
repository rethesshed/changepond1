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60" r:id="rId3"/>
    <p:sldId id="272" r:id="rId4"/>
    <p:sldId id="275" r:id="rId5"/>
    <p:sldId id="274" r:id="rId6"/>
    <p:sldId id="278" r:id="rId7"/>
    <p:sldId id="279" r:id="rId8"/>
    <p:sldId id="276" r:id="rId9"/>
    <p:sldId id="277" r:id="rId10"/>
    <p:sldId id="280" r:id="rId11"/>
    <p:sldId id="281" r:id="rId12"/>
    <p:sldId id="282" r:id="rId13"/>
    <p:sldId id="286" r:id="rId14"/>
    <p:sldId id="285" r:id="rId15"/>
    <p:sldId id="28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D0D6"/>
    <a:srgbClr val="B015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23" autoAdjust="0"/>
    <p:restoredTop sz="94660"/>
  </p:normalViewPr>
  <p:slideViewPr>
    <p:cSldViewPr snapToGrid="0">
      <p:cViewPr varScale="1">
        <p:scale>
          <a:sx n="87" d="100"/>
          <a:sy n="87" d="100"/>
        </p:scale>
        <p:origin x="6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8984" y="1792224"/>
            <a:ext cx="990599" cy="304799"/>
          </a:xfrm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fld id="{E9462EF3-3C4F-43EE-ACEE-D4B806740EA3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976" y="3227832"/>
            <a:ext cx="3867912" cy="310896"/>
          </a:xfrm>
        </p:spPr>
        <p:txBody>
          <a:bodyPr/>
          <a:lstStyle>
            <a:lvl1pPr>
              <a:defRPr sz="1000" b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9"/>
            <a:ext cx="8825659" cy="706964"/>
          </a:xfrm>
          <a:prstGeom prst="rect">
            <a:avLst/>
          </a:prstGeo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C0EF2-9919-473B-8215-8616BAF10692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9192"/>
            <a:ext cx="4343400" cy="2286000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3758184" cy="2286000"/>
          </a:xfrm>
        </p:spPr>
        <p:txBody>
          <a:bodyPr anchor="ctr" anchorCtr="0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472EB-AC54-4713-BFC2-BEB621108C63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8032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76" y="2603500"/>
            <a:ext cx="4828032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55A0C-791E-4545-B787-F98AD45CD761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69264"/>
            <a:ext cx="8825659" cy="704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98448"/>
            <a:ext cx="4828032" cy="284378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76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1" y="3187921"/>
            <a:ext cx="4825160" cy="2854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36B77-F4F4-4427-AC4F-9A623798AD82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2144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E790C-34EB-4565-8437-CACF4CDB7822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4C11-22B8-4A4E-8126-B3AF6B948A8E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298448"/>
            <a:ext cx="2793159" cy="1597152"/>
          </a:xfrm>
          <a:prstGeom prst="rect">
            <a:avLst/>
          </a:prstGeo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9008" y="1447800"/>
            <a:ext cx="5195997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3" y="3129280"/>
            <a:ext cx="2793159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06B6-C816-4861-964D-15A98395707D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1A8AB-EA7C-4B1B-9D73-E2551851FABE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7" y="4969927"/>
            <a:ext cx="8825657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7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43B39-165A-4B68-AA5C-581F5336313C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0704"/>
            <a:ext cx="8833104" cy="1371600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2144" y="3547872"/>
            <a:ext cx="8825659" cy="2478024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8C57-33F9-4259-AC4F-0E3F5BEC9B94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2" name="TextBox 11"/>
          <p:cNvSpPr txBox="1"/>
          <p:nvPr/>
        </p:nvSpPr>
        <p:spPr bwMode="gray">
          <a:xfrm>
            <a:off x="898295" y="59676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 bwMode="gray">
          <a:xfrm>
            <a:off x="9715063" y="2629300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698249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 bwMode="gray">
          <a:xfrm>
            <a:off x="1945945" y="3679987"/>
            <a:ext cx="7725772" cy="34217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400" cap="small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8"/>
            <a:ext cx="8825659" cy="997858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772B-8FA2-401F-A0A1-A59855EDBC3E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3525"/>
            <a:ext cx="8865623" cy="1819656"/>
          </a:xfrm>
          <a:prstGeom prst="rect">
            <a:avLst/>
          </a:prstGeo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9200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D5BDE-5A90-4611-82E9-0FC5746D30C5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312916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79764"/>
            <a:ext cx="3129168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5380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4"/>
            <a:ext cx="3145380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595032"/>
            <a:ext cx="3161029" cy="58473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79764"/>
            <a:ext cx="3161029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991" y="2603500"/>
            <a:ext cx="32564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5824" y="2603500"/>
            <a:ext cx="0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DA17D-0BEA-4E76-A7FC-F7C188BC48D1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 anchor="ctr" anchorCtr="0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5"/>
            <a:ext cx="3050438" cy="57626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0916"/>
            <a:ext cx="2691242" cy="158409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7"/>
            <a:ext cx="3050438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8"/>
            <a:ext cx="3050438" cy="91257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3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3" y="5109107"/>
            <a:ext cx="3050438" cy="91794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245" y="2603500"/>
            <a:ext cx="1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7352" y="2603500"/>
            <a:ext cx="0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AC7D-18CA-4236-82B9-D75EB1D66EAE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595033"/>
            <a:ext cx="8825659" cy="3424768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8300E-C023-45CD-A0BE-EDB7A8C6EA8B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6"/>
            <a:ext cx="1441567" cy="4748591"/>
          </a:xfrm>
          <a:prstGeom prst="rect">
            <a:avLst/>
          </a:prstGeo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5"/>
            <a:ext cx="6256025" cy="47485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20EAD-E369-4933-8469-ED7764B56A1B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7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30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2760" y="6391656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90786BE5-D2A3-4BF0-8B30-D7403E61B3DC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7784" y="6391656"/>
            <a:ext cx="3867912" cy="310896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634E98D-9D54-861C-FD3B-0C07E6C0F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016333-9BF4-F69E-308F-B7D4BE96E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6244" y="1061883"/>
            <a:ext cx="8825658" cy="2677648"/>
          </a:xfrm>
        </p:spPr>
        <p:txBody>
          <a:bodyPr/>
          <a:lstStyle/>
          <a:p>
            <a:r>
              <a:rPr lang="en-IN" sz="8000" dirty="0"/>
              <a:t>.NET 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xmlns="" id="{50A18EC3-B516-1061-AAE2-5D391E5752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0633" y="5141174"/>
            <a:ext cx="8825658" cy="861420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en-IN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BY:</a:t>
            </a:r>
          </a:p>
          <a:p>
            <a:pPr algn="r"/>
            <a:r>
              <a:rPr lang="en-IN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Titans</a:t>
            </a:r>
          </a:p>
        </p:txBody>
      </p:sp>
    </p:spTree>
    <p:extLst>
      <p:ext uri="{BB962C8B-B14F-4D97-AF65-F5344CB8AC3E}">
        <p14:creationId xmlns:p14="http://schemas.microsoft.com/office/powerpoint/2010/main" val="4211602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8141AA5-0503-0F49-EB47-DE8B39427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33AF8B-81FC-8DE2-EF67-433042D91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2233" y="-1088025"/>
            <a:ext cx="8825658" cy="2677648"/>
          </a:xfrm>
        </p:spPr>
        <p:txBody>
          <a:bodyPr/>
          <a:lstStyle/>
          <a:p>
            <a:r>
              <a:rPr lang="en-IN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IS .NET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B771F1D-F656-3C5A-C4F5-33A667F6A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265" y="1857201"/>
            <a:ext cx="10933470" cy="4484606"/>
          </a:xfrm>
        </p:spPr>
        <p:txBody>
          <a:bodyPr>
            <a:norm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.NET is a software development framework and a collection of technologies created by </a:t>
            </a:r>
            <a:r>
              <a:rPr lang="en-US" sz="20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microsoft</a:t>
            </a: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help developers easily build applications and connect information, people, systems, and devices.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provides:</a:t>
            </a:r>
          </a:p>
          <a:p>
            <a:pPr algn="just"/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A runtime to execute programs</a:t>
            </a:r>
          </a:p>
          <a:p>
            <a:pPr algn="just"/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A huge library of ready-made functionalities</a:t>
            </a:r>
          </a:p>
          <a:p>
            <a:pPr algn="just"/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Support for multiple programming languages</a:t>
            </a:r>
          </a:p>
          <a:p>
            <a:pPr algn="just"/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Tools to build web, desktop, mobile, cloud, </a:t>
            </a:r>
            <a:r>
              <a:rPr lang="en-US" sz="20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gaming applications</a:t>
            </a:r>
            <a:endParaRPr lang="en-US" altLang="en-US" sz="2000" cap="none" dirty="0">
              <a:solidFill>
                <a:srgbClr val="8AD0D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altLang="en-US" sz="20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US" alt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all about creation, consumption and delivery of services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IN" sz="2000" cap="none" dirty="0">
              <a:solidFill>
                <a:srgbClr val="8AD0D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0776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0CCA259-B17C-D9B9-C9EF-78559F5B2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D84BA7-0558-0E3E-1CA1-3461BE8520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70104" y="-1085918"/>
            <a:ext cx="8825658" cy="2677648"/>
          </a:xfrm>
        </p:spPr>
        <p:txBody>
          <a:bodyPr/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CFCB8423-4B41-B312-4E6D-2B90B1BEC1B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54334" y="1711422"/>
            <a:ext cx="11083332" cy="4946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.NET, windows applications were built using:</a:t>
            </a:r>
          </a:p>
          <a:p>
            <a:pPr algn="just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	Win32 API, VB6 (visual basic 6), C++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technologies were:</a:t>
            </a:r>
          </a:p>
          <a:p>
            <a:pPr algn="just"/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Hard to maintain, not consistent, missing features like garbage collection, complex for beginners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2000 – </a:t>
            </a:r>
            <a:r>
              <a:rPr lang="en-IN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announced - </a:t>
            </a:r>
            <a:r>
              <a:rPr lang="en-IN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microsoft</a:t>
            </a: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introduced the </a:t>
            </a:r>
            <a:r>
              <a:rPr lang="en-IN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framework, c#, and </a:t>
            </a:r>
            <a:r>
              <a:rPr lang="en-IN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clr</a:t>
            </a: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simplify development and compete with java.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2002 – </a:t>
            </a:r>
            <a:r>
              <a:rPr lang="en-IN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1.0 - released with CLR 1.0, base class library, ASP.NET, windows forms, and support for C# &amp; </a:t>
            </a:r>
            <a:r>
              <a:rPr lang="en-IN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VB.Net</a:t>
            </a: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2016 – </a:t>
            </a:r>
            <a:r>
              <a:rPr lang="en-IN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core - cross-platform, open-source, fast, and lightweight—runs on windows, </a:t>
            </a:r>
            <a:r>
              <a:rPr lang="en-IN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macos</a:t>
            </a: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2020 – </a:t>
            </a:r>
            <a:r>
              <a:rPr lang="en-IN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 - unified </a:t>
            </a:r>
            <a:r>
              <a:rPr lang="en-IN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framework, </a:t>
            </a:r>
            <a:r>
              <a:rPr lang="en-IN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core, and </a:t>
            </a:r>
            <a:r>
              <a:rPr lang="en-IN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xamarin</a:t>
            </a: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one modern platform.</a:t>
            </a:r>
          </a:p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 - a unified, cross-platform, high-performance framework for web, mobile, desktop, cloud, and ai apps.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B01513"/>
              </a:buClr>
              <a:buSzTx/>
              <a:buFont typeface="Wingdings" panose="05000000000000000000" pitchFamily="2" charset="2"/>
              <a:buChar char="v"/>
              <a:tabLst/>
            </a:pPr>
            <a:endParaRPr lang="en-US" altLang="en-US" cap="none" dirty="0">
              <a:solidFill>
                <a:srgbClr val="8AD0D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B01513"/>
              </a:buClr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rgbClr val="8AD0D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456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F68F5F3-D4DB-F67E-4DF8-30AA85D10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E5C771-0098-2365-440A-8790D50FBA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34580" y="-1073370"/>
            <a:ext cx="11346426" cy="2677648"/>
          </a:xfrm>
        </p:spPr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C#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0F478D54-C517-D10B-8604-1600CAD9DBF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12093" y="1978998"/>
            <a:ext cx="10567813" cy="4375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 (pronounced c-sharp) is a modern, object-oriented programming language created by Microsoft for building powerful, safe, and high-performance applications on the .NET platform.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designed to be easy to learn, clean, and structured while offering advanced features for real-world software development.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 is widely used to create web apps, desktop software, mobile apps, cloud services, </a:t>
            </a:r>
            <a:r>
              <a:rPr lang="en-US" sz="20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apis</a:t>
            </a: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even games using unity.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 provides:</a:t>
            </a:r>
          </a:p>
          <a:p>
            <a:pPr algn="just"/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A runtime to run your code</a:t>
            </a:r>
          </a:p>
          <a:p>
            <a:pPr algn="just"/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A library of ready-made functions</a:t>
            </a:r>
          </a:p>
          <a:p>
            <a:pPr algn="just"/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Tools to make development fast and easy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sz="20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309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2F6F88F-BB52-B9A9-24E4-4ED98B104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BA632C9-37DD-673A-3998-C020838D27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0723" y="-1118224"/>
            <a:ext cx="8825658" cy="2677648"/>
          </a:xfrm>
        </p:spPr>
        <p:txBody>
          <a:bodyPr/>
          <a:lstStyle/>
          <a:p>
            <a:r>
              <a:rPr lang="en-IN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IMPACT’S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A81E39E7-BF00-51B3-E2FA-9F3B864D7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3856992"/>
              </p:ext>
            </p:extLst>
          </p:nvPr>
        </p:nvGraphicFramePr>
        <p:xfrm>
          <a:off x="1307689" y="2163096"/>
          <a:ext cx="9851922" cy="3844411"/>
        </p:xfrm>
        <a:graphic>
          <a:graphicData uri="http://schemas.openxmlformats.org/drawingml/2006/table">
            <a:tbl>
              <a:tblPr/>
              <a:tblGrid>
                <a:gridCol w="4925961">
                  <a:extLst>
                    <a:ext uri="{9D8B030D-6E8A-4147-A177-3AD203B41FA5}">
                      <a16:colId xmlns:a16="http://schemas.microsoft.com/office/drawing/2014/main" xmlns="" val="3690493463"/>
                    </a:ext>
                  </a:extLst>
                </a:gridCol>
                <a:gridCol w="4925961">
                  <a:extLst>
                    <a:ext uri="{9D8B030D-6E8A-4147-A177-3AD203B41FA5}">
                      <a16:colId xmlns:a16="http://schemas.microsoft.com/office/drawing/2014/main" xmlns="" val="3127515686"/>
                    </a:ext>
                  </a:extLst>
                </a:gridCol>
              </a:tblGrid>
              <a:tr h="476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.NET SOLVED 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80967965"/>
                  </a:ext>
                </a:extLst>
              </a:tr>
              <a:tr h="714448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sz="1800" b="0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 to build apps in older Windows technologies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sz="1800" b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Provided unified library and runtime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8435274"/>
                  </a:ext>
                </a:extLst>
              </a:tr>
              <a:tr h="408256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800" b="0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built-in memory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800" b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Garbage Collection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605093185"/>
                  </a:ext>
                </a:extLst>
              </a:tr>
              <a:tr h="408256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800" b="0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consistent language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800" b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CLS, CTS, CLR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16828457"/>
                  </a:ext>
                </a:extLst>
              </a:tr>
              <a:tr h="714448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800" b="0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Windows-only limitations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sz="1800" b="0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.NET Core → Cross platform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015376300"/>
                  </a:ext>
                </a:extLst>
              </a:tr>
              <a:tr h="408256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800" b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Poor 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800" b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Code Access 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96462781"/>
                  </a:ext>
                </a:extLst>
              </a:tr>
              <a:tr h="714448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sz="1800" b="0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 for fast, scalable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sz="1800" b="0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Modern JIT compiler, optimized runtime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98857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9379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6D6A946-FE4A-D5D3-DBEE-3EC80F246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09695FB-B7B0-6FC9-914C-73B81B0A04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92128" y="-1338824"/>
            <a:ext cx="11346426" cy="2677648"/>
          </a:xfrm>
        </p:spPr>
        <p:txBody>
          <a:bodyPr/>
          <a:lstStyle/>
          <a:p>
            <a:r>
              <a:rPr lang="en-IN" sz="4000" b="1" dirty="0"/>
              <a:t>.NET ARCHITECTURE  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xmlns="" id="{9A279AF2-ABFE-AF72-4B65-699A0F09E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9106" y="1575477"/>
            <a:ext cx="7317010" cy="473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732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3472EC3-2067-765C-8B26-AA43EC7F4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99858D9-FF43-D32A-E41A-BFB0D2456E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2658" y="-899106"/>
            <a:ext cx="11346426" cy="2677648"/>
          </a:xfrm>
        </p:spPr>
        <p:txBody>
          <a:bodyPr/>
          <a:lstStyle/>
          <a:p>
            <a:r>
              <a:rPr lang="en-IN" sz="4000" b="1" dirty="0"/>
              <a:t>.NET ARCHITECTURE COMPONENTS 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959EA2F5-447B-898B-2028-1D4E1E027F9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71903" y="2203767"/>
            <a:ext cx="10575782" cy="897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CLR (Common Language Runtime)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heart of .NET</a:t>
            </a:r>
            <a:endParaRPr lang="en-US" sz="20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54A4C7FD-718A-6E8E-5E57-67C503D2E15B}"/>
              </a:ext>
            </a:extLst>
          </p:cNvPr>
          <p:cNvGraphicFramePr>
            <a:graphicFrameLocks noGrp="1"/>
          </p:cNvGraphicFramePr>
          <p:nvPr/>
        </p:nvGraphicFramePr>
        <p:xfrm>
          <a:off x="2197918" y="3429000"/>
          <a:ext cx="4925961" cy="2721707"/>
        </p:xfrm>
        <a:graphic>
          <a:graphicData uri="http://schemas.openxmlformats.org/drawingml/2006/table">
            <a:tbl>
              <a:tblPr/>
              <a:tblGrid>
                <a:gridCol w="4925961">
                  <a:extLst>
                    <a:ext uri="{9D8B030D-6E8A-4147-A177-3AD203B41FA5}">
                      <a16:colId xmlns:a16="http://schemas.microsoft.com/office/drawing/2014/main" xmlns="" val="3033164568"/>
                    </a:ext>
                  </a:extLst>
                </a:gridCol>
              </a:tblGrid>
              <a:tr h="476299"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1513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IN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Executes code</a:t>
                      </a:r>
                      <a:endParaRPr lang="en-US" sz="1800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902594785"/>
                  </a:ext>
                </a:extLst>
              </a:tr>
              <a:tr h="408256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Manages memory</a:t>
                      </a:r>
                      <a:endParaRPr lang="en-US" sz="1800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06292915"/>
                  </a:ext>
                </a:extLst>
              </a:tr>
              <a:tr h="714448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Handles security</a:t>
                      </a:r>
                      <a:endParaRPr lang="en-US" sz="1800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08112815"/>
                  </a:ext>
                </a:extLst>
              </a:tr>
              <a:tr h="408256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Performs garbage collection</a:t>
                      </a:r>
                      <a:endParaRPr lang="en-US" sz="1800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86415341"/>
                  </a:ext>
                </a:extLst>
              </a:tr>
              <a:tr h="714448">
                <a:tc>
                  <a:txBody>
                    <a:bodyPr/>
                    <a:lstStyle/>
                    <a:p>
                      <a:pPr marL="0" indent="0">
                        <a:buClr>
                          <a:srgbClr val="B01513"/>
                        </a:buClr>
                        <a:buFont typeface="Wingdings" panose="05000000000000000000" pitchFamily="2" charset="2"/>
                        <a:buNone/>
                      </a:pPr>
                      <a:endParaRPr lang="en-US" sz="1800" b="0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67277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368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C72C788-5E44-DC1E-C86B-2D7D658B2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2399153-1D51-A97C-498E-B09C1D5B5C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2490" y="-869030"/>
            <a:ext cx="11346426" cy="2677648"/>
          </a:xfrm>
        </p:spPr>
        <p:txBody>
          <a:bodyPr/>
          <a:lstStyle/>
          <a:p>
            <a:r>
              <a:rPr lang="en-IN" sz="4000" b="1" dirty="0"/>
              <a:t>.NET ARCHITECTURE COMPONENTS 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E705703D-F89D-D8D3-9DFB-9513D28E045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71903" y="2203765"/>
            <a:ext cx="10575782" cy="897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BCL (Base Class Library)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collection of ready-to-use features: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2247CED5-A765-B1D9-1698-72F9F71B79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810790"/>
              </p:ext>
            </p:extLst>
          </p:nvPr>
        </p:nvGraphicFramePr>
        <p:xfrm>
          <a:off x="2168422" y="3193436"/>
          <a:ext cx="4925961" cy="2721707"/>
        </p:xfrm>
        <a:graphic>
          <a:graphicData uri="http://schemas.openxmlformats.org/drawingml/2006/table">
            <a:tbl>
              <a:tblPr/>
              <a:tblGrid>
                <a:gridCol w="4925961">
                  <a:extLst>
                    <a:ext uri="{9D8B030D-6E8A-4147-A177-3AD203B41FA5}">
                      <a16:colId xmlns:a16="http://schemas.microsoft.com/office/drawing/2014/main" xmlns="" val="3033164568"/>
                    </a:ext>
                  </a:extLst>
                </a:gridCol>
              </a:tblGrid>
              <a:tr h="476299"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1513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collection of ready-to-use features: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902594785"/>
                  </a:ext>
                </a:extLst>
              </a:tr>
              <a:tr h="408256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800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Networking</a:t>
                      </a:r>
                      <a:endParaRPr lang="en-US" sz="1800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06292915"/>
                  </a:ext>
                </a:extLst>
              </a:tr>
              <a:tr h="714448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800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Encryption</a:t>
                      </a:r>
                      <a:endParaRPr lang="en-US" sz="1800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08112815"/>
                  </a:ext>
                </a:extLst>
              </a:tr>
              <a:tr h="408256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800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Collections (List, Dictionary)</a:t>
                      </a:r>
                      <a:endParaRPr lang="en-US" sz="1800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86415341"/>
                  </a:ext>
                </a:extLst>
              </a:tr>
              <a:tr h="714448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sz="1800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Math &amp; </a:t>
                      </a:r>
                      <a:r>
                        <a:rPr lang="en-IN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 controls</a:t>
                      </a:r>
                      <a:endParaRPr lang="en-US" sz="1800" b="0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67277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0442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12BA265-7DBA-989B-51EE-619F7A221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A7ED94-70D0-0F77-B315-FA224741C6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8296" y="-922723"/>
            <a:ext cx="11346426" cy="2677648"/>
          </a:xfrm>
        </p:spPr>
        <p:txBody>
          <a:bodyPr/>
          <a:lstStyle/>
          <a:p>
            <a:r>
              <a:rPr lang="en-IN" sz="4000" b="1" dirty="0"/>
              <a:t>.NET ARCHITECTURE COMPONENTS 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EE5F4E8C-6859-DBB6-53EE-679E9492A6A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71903" y="2203766"/>
            <a:ext cx="10575782" cy="897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Languages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languages compile into </a:t>
            </a:r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MSIL/IL</a:t>
            </a: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run on CLR.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D1AA990E-1060-7488-6620-BBA810245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631238"/>
              </p:ext>
            </p:extLst>
          </p:nvPr>
        </p:nvGraphicFramePr>
        <p:xfrm>
          <a:off x="2050435" y="3310362"/>
          <a:ext cx="4925961" cy="2721707"/>
        </p:xfrm>
        <a:graphic>
          <a:graphicData uri="http://schemas.openxmlformats.org/drawingml/2006/table">
            <a:tbl>
              <a:tblPr/>
              <a:tblGrid>
                <a:gridCol w="4925961">
                  <a:extLst>
                    <a:ext uri="{9D8B030D-6E8A-4147-A177-3AD203B41FA5}">
                      <a16:colId xmlns:a16="http://schemas.microsoft.com/office/drawing/2014/main" xmlns="" val="3033164568"/>
                    </a:ext>
                  </a:extLst>
                </a:gridCol>
              </a:tblGrid>
              <a:tr h="476299"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1513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IN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C#</a:t>
                      </a:r>
                      <a:endParaRPr lang="en-US" sz="1800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902594785"/>
                  </a:ext>
                </a:extLst>
              </a:tr>
              <a:tr h="408256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VB.NET</a:t>
                      </a:r>
                      <a:endParaRPr lang="en-US" sz="1800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06292915"/>
                  </a:ext>
                </a:extLst>
              </a:tr>
              <a:tr h="714448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F#</a:t>
                      </a:r>
                      <a:endParaRPr lang="en-US" sz="1800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08112815"/>
                  </a:ext>
                </a:extLst>
              </a:tr>
              <a:tr h="408256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dirty="0" err="1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Powershell</a:t>
                      </a:r>
                      <a:endParaRPr lang="en-US" sz="1800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86415341"/>
                  </a:ext>
                </a:extLst>
              </a:tr>
              <a:tr h="714448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IN" dirty="0" err="1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IronPython</a:t>
                      </a:r>
                      <a:r>
                        <a:rPr lang="en-IN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</a:t>
                      </a:r>
                      <a:r>
                        <a:rPr lang="en-IN" dirty="0" err="1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IronRuby</a:t>
                      </a:r>
                      <a:endParaRPr lang="en-US" sz="1800" b="0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6727745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3E2C7277-1202-A505-2FDE-BF1BEAC595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840478"/>
              </p:ext>
            </p:extLst>
          </p:nvPr>
        </p:nvGraphicFramePr>
        <p:xfrm>
          <a:off x="5692878" y="3101448"/>
          <a:ext cx="5692878" cy="3614939"/>
        </p:xfrm>
        <a:graphic>
          <a:graphicData uri="http://schemas.openxmlformats.org/drawingml/2006/table">
            <a:tbl>
              <a:tblPr/>
              <a:tblGrid>
                <a:gridCol w="5692878">
                  <a:extLst>
                    <a:ext uri="{9D8B030D-6E8A-4147-A177-3AD203B41FA5}">
                      <a16:colId xmlns:a16="http://schemas.microsoft.com/office/drawing/2014/main" xmlns="" val="3033164568"/>
                    </a:ext>
                  </a:extLst>
                </a:gridCol>
              </a:tblGrid>
              <a:tr h="63744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1513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8AD0D6"/>
                          </a:solidFill>
                        </a:rPr>
                        <a:t>WHY ONLY THESE LANGUAGES SUPPORT .NET?</a:t>
                      </a:r>
                      <a:endParaRPr lang="en-US" sz="1800" b="1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902594785"/>
                  </a:ext>
                </a:extLst>
              </a:tr>
              <a:tr h="406575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b="1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They follow CLS (Common Language Specification)</a:t>
                      </a:r>
                    </a:p>
                    <a:p>
                      <a:pPr marL="0" indent="0">
                        <a:buClr>
                          <a:srgbClr val="B01513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Rules for all .NET languages.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06292915"/>
                  </a:ext>
                </a:extLst>
              </a:tr>
              <a:tr h="711507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b="1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They compile to IL (Intermediate Language)</a:t>
                      </a:r>
                    </a:p>
                    <a:p>
                      <a:pPr marL="0" indent="0">
                        <a:buClr>
                          <a:srgbClr val="B01513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Then CLR executes it.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08112815"/>
                  </a:ext>
                </a:extLst>
              </a:tr>
              <a:tr h="406575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b="1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They follow CTS (Common Type System)</a:t>
                      </a:r>
                    </a:p>
                    <a:p>
                      <a:pPr marL="0" indent="0">
                        <a:buClr>
                          <a:srgbClr val="B01513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So a class written in C# can be used in VB.NET        and vice versa.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86415341"/>
                  </a:ext>
                </a:extLst>
              </a:tr>
              <a:tr h="711507">
                <a:tc>
                  <a:txBody>
                    <a:bodyPr/>
                    <a:lstStyle/>
                    <a:p>
                      <a:pPr marL="0" indent="0">
                        <a:buClr>
                          <a:srgbClr val="B01513"/>
                        </a:buClr>
                        <a:buFont typeface="Wingdings" panose="05000000000000000000" pitchFamily="2" charset="2"/>
                        <a:buNone/>
                      </a:pPr>
                      <a:endParaRPr lang="en-US" sz="1800" b="0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67277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9343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B6B6BC0-344C-FC4D-51AD-6EAEBD049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077B4F-96CD-30C6-B1BE-C0ABA7BDCE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9681" y="-1338824"/>
            <a:ext cx="11346426" cy="2677648"/>
          </a:xfrm>
        </p:spPr>
        <p:txBody>
          <a:bodyPr/>
          <a:lstStyle/>
          <a:p>
            <a:r>
              <a:rPr lang="en-US" alt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.NET FRAMEWORK</a:t>
            </a:r>
            <a:endParaRPr lang="en-IN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ADFE1AF4-09D8-527F-3B45-7EA8FCF79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4269" y="1543667"/>
            <a:ext cx="2970213" cy="13716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Ctr="1"/>
          <a:lstStyle/>
          <a:p>
            <a:pPr algn="ctr"/>
            <a:r>
              <a:rPr lang="en-US" altLang="en-US" sz="160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Verdana" panose="020B0604030504040204" pitchFamily="34" charset="0"/>
              </a:rPr>
              <a:t>Windows Forms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E0E10CAA-1556-E0E1-D5D4-DD1DCF463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2257" y="1543667"/>
            <a:ext cx="2970212" cy="13716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Ctr="1"/>
          <a:lstStyle/>
          <a:p>
            <a:pPr algn="ctr"/>
            <a:r>
              <a:rPr lang="en-US" altLang="en-US" sz="160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Verdana" panose="020B0604030504040204" pitchFamily="34" charset="0"/>
              </a:rPr>
              <a:t>ASP.NET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A62D0431-4D3C-F8C1-7CE8-FA4AB3C4D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0844" y="2058017"/>
            <a:ext cx="1390650" cy="3206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200">
                <a:latin typeface="Verdana" panose="020B0604030504040204" pitchFamily="34" charset="0"/>
              </a:rPr>
              <a:t>Web Services</a:t>
            </a:r>
            <a:endParaRPr lang="en-US" altLang="en-US" sz="2800">
              <a:effectLst>
                <a:outerShdw blurRad="38100" dist="38100" dir="2700000" algn="tl">
                  <a:srgbClr val="FFFFFF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8856CA61-9BBF-00A5-6602-16DD730C5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0844" y="2515217"/>
            <a:ext cx="2693988" cy="3206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200">
                <a:latin typeface="Verdana" panose="020B0604030504040204" pitchFamily="34" charset="0"/>
              </a:rPr>
              <a:t>ASP.NET Application Services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74B0785D-0385-17B8-E7B3-4600B03E0A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0882" y="2058017"/>
            <a:ext cx="1123950" cy="3206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200">
                <a:latin typeface="Verdana" panose="020B0604030504040204" pitchFamily="34" charset="0"/>
              </a:rPr>
              <a:t>Web Forms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40D2F049-6DBE-0D6F-9747-6C4DD525B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1269" y="2058017"/>
            <a:ext cx="1419225" cy="3206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200">
                <a:effectLst>
                  <a:outerShdw blurRad="38100" dist="38100" dir="2700000" algn="tl">
                    <a:srgbClr val="FFFFFF"/>
                  </a:outerShdw>
                </a:effectLst>
                <a:latin typeface="Verdana" panose="020B0604030504040204" pitchFamily="34" charset="0"/>
              </a:rPr>
              <a:t>Controls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116EC5A-2955-937E-B01A-4B16B3A45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3707" y="2058017"/>
            <a:ext cx="1000125" cy="3206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200">
                <a:latin typeface="Verdana" panose="020B0604030504040204" pitchFamily="34" charset="0"/>
              </a:rPr>
              <a:t>Drawing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567C946-15F0-813C-8D52-3A4D86E36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1269" y="2515217"/>
            <a:ext cx="2722563" cy="3206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200">
                <a:latin typeface="Verdana" panose="020B0604030504040204" pitchFamily="34" charset="0"/>
              </a:rPr>
              <a:t>Windows Application Services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95839888-F5C9-9129-9984-E776F57A4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2257" y="3110530"/>
            <a:ext cx="6372225" cy="16002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Ctr="1"/>
          <a:lstStyle/>
          <a:p>
            <a:pPr algn="ctr"/>
            <a:r>
              <a:rPr lang="en-US" altLang="en-US" sz="160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Verdana" panose="020B0604030504040204" pitchFamily="34" charset="0"/>
              </a:rPr>
              <a:t>Framework Class Library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AAE6F744-7DA0-200C-6A45-72FC35FCB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1319" y="3772517"/>
            <a:ext cx="1371600" cy="3206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200">
                <a:solidFill>
                  <a:schemeClr val="tx2"/>
                </a:solidFill>
                <a:latin typeface="Verdana" panose="020B0604030504040204" pitchFamily="34" charset="0"/>
              </a:rPr>
              <a:t>ADO.NET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F97F01BD-E9D0-D030-EAE0-4F94A540F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1319" y="4277342"/>
            <a:ext cx="1371600" cy="3206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200">
                <a:solidFill>
                  <a:schemeClr val="tx2"/>
                </a:solidFill>
                <a:latin typeface="Verdana" panose="020B0604030504040204" pitchFamily="34" charset="0"/>
              </a:rPr>
              <a:t>Network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6B828E02-10EE-B49F-464F-2C2198B8B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5169" y="3772517"/>
            <a:ext cx="1371600" cy="3206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200">
                <a:latin typeface="Verdana" panose="020B0604030504040204" pitchFamily="34" charset="0"/>
              </a:rPr>
              <a:t>XML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2CDDE6C1-5D43-9A81-701E-74659BD8E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5169" y="4277342"/>
            <a:ext cx="1371600" cy="3206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200">
                <a:latin typeface="Verdana" panose="020B0604030504040204" pitchFamily="34" charset="0"/>
              </a:rPr>
              <a:t>Security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37E84A5C-E265-2129-41BD-A96E71E6E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9019" y="3772517"/>
            <a:ext cx="1371600" cy="3206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200">
                <a:latin typeface="Verdana" panose="020B0604030504040204" pitchFamily="34" charset="0"/>
              </a:rPr>
              <a:t>Threading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1CCA5CAB-F162-5CA6-E007-3F9B1CD11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9019" y="4277342"/>
            <a:ext cx="1371600" cy="32385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200">
                <a:latin typeface="Verdana" panose="020B0604030504040204" pitchFamily="34" charset="0"/>
              </a:rPr>
              <a:t>Diagnostics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A153BB7B-8223-756A-A215-F241DB44C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2869" y="3772517"/>
            <a:ext cx="1371600" cy="3206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200">
                <a:latin typeface="Verdana" panose="020B0604030504040204" pitchFamily="34" charset="0"/>
              </a:rPr>
              <a:t>IO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A9A94222-62EE-2BE6-19F7-46D057C32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2869" y="4277342"/>
            <a:ext cx="1371600" cy="3206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200">
                <a:latin typeface="Verdana" panose="020B0604030504040204" pitchFamily="34" charset="0"/>
              </a:rPr>
              <a:t>Etc.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F09C14C6-0E07-B09D-4E5B-352432F84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2257" y="4915517"/>
            <a:ext cx="6370637" cy="11620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Ctr="1"/>
          <a:lstStyle/>
          <a:p>
            <a:pPr algn="ctr"/>
            <a:r>
              <a:rPr lang="en-US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Verdana" panose="020B0604030504040204" pitchFamily="34" charset="0"/>
              </a:rPr>
              <a:t>Common Language Runtime</a:t>
            </a:r>
            <a:endParaRPr lang="en-US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83047A26-5491-8377-8510-130C5B202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8944" y="5629892"/>
            <a:ext cx="1828800" cy="32385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200">
                <a:solidFill>
                  <a:schemeClr val="tx2"/>
                </a:solidFill>
                <a:latin typeface="Verdana" panose="020B0604030504040204" pitchFamily="34" charset="0"/>
              </a:rPr>
              <a:t>Memory Management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7F69ECC0-8514-2442-F894-844C5D92C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9682" y="5620367"/>
            <a:ext cx="1828800" cy="3206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200">
                <a:solidFill>
                  <a:schemeClr val="tx2"/>
                </a:solidFill>
                <a:latin typeface="Verdana" panose="020B0604030504040204" pitchFamily="34" charset="0"/>
              </a:rPr>
              <a:t>Common Type System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9D78D920-3028-0C09-6D45-1B9320A61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0419" y="5620367"/>
            <a:ext cx="1828800" cy="3206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200">
                <a:solidFill>
                  <a:schemeClr val="tx2"/>
                </a:solidFill>
                <a:latin typeface="Verdana" panose="020B0604030504040204" pitchFamily="34" charset="0"/>
              </a:rPr>
              <a:t>Lifecycle Monitoring</a:t>
            </a:r>
          </a:p>
        </p:txBody>
      </p:sp>
    </p:spTree>
    <p:extLst>
      <p:ext uri="{BB962C8B-B14F-4D97-AF65-F5344CB8AC3E}">
        <p14:creationId xmlns:p14="http://schemas.microsoft.com/office/powerpoint/2010/main" val="1693973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EA76715-18A9-1DCA-BB6F-2AA6A6F1F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CBE5AF5-98D4-3FEA-6557-5613B2EE11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7264" y="-1004544"/>
            <a:ext cx="11346426" cy="2677648"/>
          </a:xfrm>
        </p:spPr>
        <p:txBody>
          <a:bodyPr/>
          <a:lstStyle/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.NET SECURITY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2079F747-147D-2A53-BB30-795103F538B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06432" y="1881031"/>
            <a:ext cx="10567813" cy="164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2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US" sz="2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security = protecting your app + protecting your data + protecting your users + protecting your machine.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alt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.NET security framework architecture consists of the following five core elements:</a:t>
            </a:r>
          </a:p>
          <a:p>
            <a:pPr algn="just"/>
            <a:endParaRPr lang="en-US" sz="22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9585CACA-7CAE-E912-56D5-E52ED9C58C75}"/>
              </a:ext>
            </a:extLst>
          </p:cNvPr>
          <p:cNvGraphicFramePr>
            <a:graphicFrameLocks noGrp="1"/>
          </p:cNvGraphicFramePr>
          <p:nvPr/>
        </p:nvGraphicFramePr>
        <p:xfrm>
          <a:off x="1942281" y="3103241"/>
          <a:ext cx="4625668" cy="2943599"/>
        </p:xfrm>
        <a:graphic>
          <a:graphicData uri="http://schemas.openxmlformats.org/drawingml/2006/table">
            <a:tbl>
              <a:tblPr/>
              <a:tblGrid>
                <a:gridCol w="4625668">
                  <a:extLst>
                    <a:ext uri="{9D8B030D-6E8A-4147-A177-3AD203B41FA5}">
                      <a16:colId xmlns:a16="http://schemas.microsoft.com/office/drawing/2014/main" xmlns="" val="3033164568"/>
                    </a:ext>
                  </a:extLst>
                </a:gridCol>
              </a:tblGrid>
              <a:tr h="702979"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1513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altLang="en-US" sz="1800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Evidence Based Security </a:t>
                      </a:r>
                      <a:endParaRPr lang="en-US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902594785"/>
                  </a:ext>
                </a:extLst>
              </a:tr>
              <a:tr h="543332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altLang="en-US" sz="1800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 Access Security </a:t>
                      </a:r>
                      <a:endParaRPr lang="en-US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06292915"/>
                  </a:ext>
                </a:extLst>
              </a:tr>
              <a:tr h="668660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altLang="en-US" sz="1800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Verification</a:t>
                      </a:r>
                      <a:endParaRPr lang="en-US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08112815"/>
                  </a:ext>
                </a:extLst>
              </a:tr>
              <a:tr h="399616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altLang="en-US" sz="1800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 Based Security </a:t>
                      </a:r>
                      <a:endParaRPr lang="en-US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86415341"/>
                  </a:ext>
                </a:extLst>
              </a:tr>
              <a:tr h="629012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B01513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altLang="en-US" sz="1800" dirty="0">
                          <a:solidFill>
                            <a:srgbClr val="8AD0D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Cryptography</a:t>
                      </a:r>
                      <a:endParaRPr lang="en-US" sz="1800" b="0" dirty="0">
                        <a:solidFill>
                          <a:srgbClr val="8AD0D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567277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5422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3AF176A-05FA-5DAE-65DE-F69DEC9F3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709A17-4A40-B0EA-81EF-26A98A47C2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80993" y="-855742"/>
            <a:ext cx="11346426" cy="2677648"/>
          </a:xfrm>
        </p:spPr>
        <p:txBody>
          <a:bodyPr/>
          <a:lstStyle/>
          <a:p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3790D8D3-DA30-3414-9AAA-484C5040426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12093" y="3426460"/>
            <a:ext cx="10567813" cy="458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NVC BBD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714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3AF176A-05FA-5DAE-65DE-F69DEC9F3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709A17-4A40-B0EA-81EF-26A98A47C2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3706" y="-1201429"/>
            <a:ext cx="11346426" cy="2677648"/>
          </a:xfrm>
        </p:spPr>
        <p:txBody>
          <a:bodyPr/>
          <a:lstStyle/>
          <a:p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.NET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3790D8D3-DA30-3414-9AAA-484C5040426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12093" y="3426460"/>
            <a:ext cx="10567813" cy="458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NVC BBD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884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3AF176A-05FA-5DAE-65DE-F69DEC9F3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709A17-4A40-B0EA-81EF-26A98A47C2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80993" y="-855742"/>
            <a:ext cx="11346426" cy="2677648"/>
          </a:xfrm>
        </p:spPr>
        <p:txBody>
          <a:bodyPr/>
          <a:lstStyle/>
          <a:p>
            <a:r>
              <a:rPr lang="en-US" alt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r>
              <a:rPr lang="en-US" alt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3790D8D3-DA30-3414-9AAA-484C5040426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12093" y="2259474"/>
            <a:ext cx="10567813" cy="2792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powerful, secure, and flexible development platform that allows developers to build any type of application using modern tools and languages like c#.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continuous upgrades, strong performance, and cross-platform support make it one of the most reliable and future-ready technologies in the software industry.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Whether it's web, mobile, desktop, cloud, or gaming — .NET provides a complete ecosystem to create fast, scalable, and high-quality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649715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FA11851-F840-BC5D-0929-ED064CB29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2A621D-F678-E324-F0DE-73246AF31F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9626" y="1356851"/>
            <a:ext cx="8825658" cy="2677648"/>
          </a:xfrm>
        </p:spPr>
        <p:txBody>
          <a:bodyPr/>
          <a:lstStyle/>
          <a:p>
            <a:r>
              <a:rPr lang="en-IN" sz="8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65835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EC7F02AD-9687-440F-A9DF-FAA6F22270D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718</TotalTime>
  <Words>545</Words>
  <Application>Microsoft Office PowerPoint</Application>
  <PresentationFormat>Widescreen</PresentationFormat>
  <Paragraphs>114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Century Gothic</vt:lpstr>
      <vt:lpstr>Times New Roman</vt:lpstr>
      <vt:lpstr>Verdana</vt:lpstr>
      <vt:lpstr>Wingdings</vt:lpstr>
      <vt:lpstr>Wingdings 3</vt:lpstr>
      <vt:lpstr>Ion Boardroom</vt:lpstr>
      <vt:lpstr>.NET </vt:lpstr>
      <vt:lpstr>WHAT IS .NET</vt:lpstr>
      <vt:lpstr>HISTORY   </vt:lpstr>
      <vt:lpstr>MICROSOFT C#</vt:lpstr>
      <vt:lpstr>IMPACT’S</vt:lpstr>
      <vt:lpstr>.NET ARCHITECTURE  </vt:lpstr>
      <vt:lpstr>.NET ARCHITECTURE COMPONENTS </vt:lpstr>
      <vt:lpstr>.NET ARCHITECTURE COMPONENTS </vt:lpstr>
      <vt:lpstr>.NET ARCHITECTURE COMPONENTS </vt:lpstr>
      <vt:lpstr>.NET FRAMEWORK</vt:lpstr>
      <vt:lpstr>.NET SECURITY</vt:lpstr>
      <vt:lpstr>BENCHMARK</vt:lpstr>
      <vt:lpstr>APPLICATION OF .NET</vt:lpstr>
      <vt:lpstr>SUMMARY 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.NET </dc:title>
  <dc:creator>Hari pranesh</dc:creator>
  <cp:lastModifiedBy>Rethessh E D</cp:lastModifiedBy>
  <cp:revision>22</cp:revision>
  <dcterms:created xsi:type="dcterms:W3CDTF">2025-11-23T06:22:57Z</dcterms:created>
  <dcterms:modified xsi:type="dcterms:W3CDTF">2025-11-24T05:28:03Z</dcterms:modified>
</cp:coreProperties>
</file>