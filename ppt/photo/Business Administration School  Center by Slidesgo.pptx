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4"/>
  </p:notesMasterIdLst>
  <p:sldIdLst>
    <p:sldId id="256" r:id="rId2"/>
    <p:sldId id="259" r:id="rId3"/>
    <p:sldId id="257" r:id="rId4"/>
    <p:sldId id="272" r:id="rId5"/>
    <p:sldId id="266" r:id="rId6"/>
    <p:sldId id="260" r:id="rId7"/>
    <p:sldId id="258" r:id="rId8"/>
    <p:sldId id="302" r:id="rId9"/>
    <p:sldId id="305" r:id="rId10"/>
    <p:sldId id="303" r:id="rId11"/>
    <p:sldId id="306" r:id="rId12"/>
    <p:sldId id="304" r:id="rId13"/>
  </p:sldIdLst>
  <p:sldSz cx="9144000" cy="5143500" type="screen16x9"/>
  <p:notesSz cx="6858000" cy="9144000"/>
  <p:embeddedFontLst>
    <p:embeddedFont>
      <p:font typeface="Manrope" panose="020B0604020202020204" charset="0"/>
      <p:regular r:id="rId15"/>
      <p:bold r:id="rId16"/>
    </p:embeddedFont>
    <p:embeddedFont>
      <p:font typeface="DM Sans" panose="020B0604020202020204" charset="0"/>
      <p:regular r:id="rId17"/>
      <p:bold r:id="rId18"/>
      <p:italic r:id="rId19"/>
      <p:boldItalic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Archivo Black" panose="020B0604020202020204" charset="0"/>
      <p:bold r:id="rId25"/>
      <p:boldItalic r:id="rId26"/>
    </p:embeddedFont>
    <p:embeddedFont>
      <p:font typeface="Archivo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2241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B963E07-F4BC-48A0-9136-190E218839C6}">
  <a:tblStyle styleId="{2B963E07-F4BC-48A0-9136-190E218839C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42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040027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6626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58806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12e478d9885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12e478d9885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7109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20f4d7b453e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20f4d7b453e_0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6588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2600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75435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21234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78249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42920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90495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62601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6769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4807500" cy="2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2733950"/>
            <a:ext cx="2237400" cy="6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5654925" y="1312525"/>
            <a:ext cx="2852100" cy="2852100"/>
          </a:xfrm>
          <a:prstGeom prst="ellipse">
            <a:avLst/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65" name="Google Shape;65;p6"/>
          <p:cNvGrpSpPr/>
          <p:nvPr/>
        </p:nvGrpSpPr>
        <p:grpSpPr>
          <a:xfrm>
            <a:off x="7267300" y="387525"/>
            <a:ext cx="2456449" cy="5138686"/>
            <a:chOff x="7267300" y="387525"/>
            <a:chExt cx="2456449" cy="5138686"/>
          </a:xfrm>
        </p:grpSpPr>
        <p:grpSp>
          <p:nvGrpSpPr>
            <p:cNvPr id="66" name="Google Shape;66;p6"/>
            <p:cNvGrpSpPr/>
            <p:nvPr/>
          </p:nvGrpSpPr>
          <p:grpSpPr>
            <a:xfrm rot="10800000" flipH="1">
              <a:off x="7432804" y="387525"/>
              <a:ext cx="1309796" cy="257750"/>
              <a:chOff x="-6337521" y="4362225"/>
              <a:chExt cx="1309796" cy="257750"/>
            </a:xfrm>
          </p:grpSpPr>
          <p:sp>
            <p:nvSpPr>
              <p:cNvPr id="67" name="Google Shape;67;p6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6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6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6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6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6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6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6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6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6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" name="Google Shape;77;p6"/>
            <p:cNvGrpSpPr/>
            <p:nvPr/>
          </p:nvGrpSpPr>
          <p:grpSpPr>
            <a:xfrm rot="10800000" flipH="1">
              <a:off x="7267300" y="3608800"/>
              <a:ext cx="2456449" cy="1917411"/>
              <a:chOff x="7267300" y="-366311"/>
              <a:chExt cx="2456449" cy="1917411"/>
            </a:xfrm>
          </p:grpSpPr>
          <p:sp>
            <p:nvSpPr>
              <p:cNvPr id="78" name="Google Shape;78;p6"/>
              <p:cNvSpPr/>
              <p:nvPr/>
            </p:nvSpPr>
            <p:spPr>
              <a:xfrm rot="-5400000" flipH="1">
                <a:off x="7653475" y="-500"/>
                <a:ext cx="1554600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6"/>
              <p:cNvSpPr/>
              <p:nvPr/>
            </p:nvSpPr>
            <p:spPr>
              <a:xfrm rot="2699366" flipH="1">
                <a:off x="8648903" y="642478"/>
                <a:ext cx="1150392" cy="26261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6"/>
              <p:cNvSpPr/>
              <p:nvPr/>
            </p:nvSpPr>
            <p:spPr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6"/>
              <p:cNvSpPr/>
              <p:nvPr/>
            </p:nvSpPr>
            <p:spPr>
              <a:xfrm rot="2699336" flipH="1">
                <a:off x="7177884" y="-7536"/>
                <a:ext cx="1098632" cy="2019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 txBox="1">
            <a:spLocks noGrp="1"/>
          </p:cNvSpPr>
          <p:nvPr>
            <p:ph type="subTitle" idx="1"/>
          </p:nvPr>
        </p:nvSpPr>
        <p:spPr>
          <a:xfrm>
            <a:off x="4255610" y="1667625"/>
            <a:ext cx="3030900" cy="24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subTitle" idx="2"/>
          </p:nvPr>
        </p:nvSpPr>
        <p:spPr>
          <a:xfrm>
            <a:off x="720000" y="1667625"/>
            <a:ext cx="3030900" cy="24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86" name="Google Shape;86;p7"/>
          <p:cNvGrpSpPr/>
          <p:nvPr/>
        </p:nvGrpSpPr>
        <p:grpSpPr>
          <a:xfrm>
            <a:off x="2212504" y="2617594"/>
            <a:ext cx="7422682" cy="2776688"/>
            <a:chOff x="2212504" y="2617594"/>
            <a:chExt cx="7422682" cy="2776688"/>
          </a:xfrm>
        </p:grpSpPr>
        <p:grpSp>
          <p:nvGrpSpPr>
            <p:cNvPr id="87" name="Google Shape;87;p7"/>
            <p:cNvGrpSpPr/>
            <p:nvPr/>
          </p:nvGrpSpPr>
          <p:grpSpPr>
            <a:xfrm>
              <a:off x="2212504" y="4514625"/>
              <a:ext cx="1309796" cy="257750"/>
              <a:chOff x="-6337521" y="4362225"/>
              <a:chExt cx="1309796" cy="257750"/>
            </a:xfrm>
          </p:grpSpPr>
          <p:sp>
            <p:nvSpPr>
              <p:cNvPr id="88" name="Google Shape;88;p7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7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7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7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7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7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7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7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7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7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8" name="Google Shape;98;p7"/>
            <p:cNvGrpSpPr/>
            <p:nvPr/>
          </p:nvGrpSpPr>
          <p:grpSpPr>
            <a:xfrm>
              <a:off x="6687000" y="2617594"/>
              <a:ext cx="2948185" cy="2776688"/>
              <a:chOff x="6687000" y="2617594"/>
              <a:chExt cx="2948185" cy="2776688"/>
            </a:xfrm>
          </p:grpSpPr>
          <p:sp>
            <p:nvSpPr>
              <p:cNvPr id="99" name="Google Shape;99;p7"/>
              <p:cNvSpPr/>
              <p:nvPr/>
            </p:nvSpPr>
            <p:spPr>
              <a:xfrm flipH="1">
                <a:off x="6687000" y="2703525"/>
                <a:ext cx="2457000" cy="24471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7"/>
              <p:cNvSpPr/>
              <p:nvPr/>
            </p:nvSpPr>
            <p:spPr>
              <a:xfrm rot="-2699590">
                <a:off x="7946885" y="3849460"/>
                <a:ext cx="1780000" cy="477721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7"/>
              <p:cNvSpPr/>
              <p:nvPr/>
            </p:nvSpPr>
            <p:spPr>
              <a:xfrm rot="-2700000">
                <a:off x="6857259" y="4943944"/>
                <a:ext cx="996172" cy="11497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7"/>
              <p:cNvSpPr/>
              <p:nvPr/>
            </p:nvSpPr>
            <p:spPr>
              <a:xfrm>
                <a:off x="6962498" y="355377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7"/>
              <p:cNvSpPr/>
              <p:nvPr/>
            </p:nvSpPr>
            <p:spPr>
              <a:xfrm rot="-2699590">
                <a:off x="7651509" y="3199003"/>
                <a:ext cx="1780000" cy="326683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3"/>
          <p:cNvSpPr txBox="1">
            <a:spLocks noGrp="1"/>
          </p:cNvSpPr>
          <p:nvPr>
            <p:ph type="subTitle" idx="1"/>
          </p:nvPr>
        </p:nvSpPr>
        <p:spPr>
          <a:xfrm>
            <a:off x="1578601" y="2296975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3"/>
          <p:cNvSpPr txBox="1">
            <a:spLocks noGrp="1"/>
          </p:cNvSpPr>
          <p:nvPr>
            <p:ph type="subTitle" idx="2"/>
          </p:nvPr>
        </p:nvSpPr>
        <p:spPr>
          <a:xfrm>
            <a:off x="1578601" y="3954230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3"/>
          <p:cNvSpPr txBox="1">
            <a:spLocks noGrp="1"/>
          </p:cNvSpPr>
          <p:nvPr>
            <p:ph type="subTitle" idx="3"/>
          </p:nvPr>
        </p:nvSpPr>
        <p:spPr>
          <a:xfrm>
            <a:off x="5534500" y="3954200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3"/>
          <p:cNvSpPr txBox="1">
            <a:spLocks noGrp="1"/>
          </p:cNvSpPr>
          <p:nvPr>
            <p:ph type="subTitle" idx="4"/>
          </p:nvPr>
        </p:nvSpPr>
        <p:spPr>
          <a:xfrm>
            <a:off x="5534500" y="2296975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title" idx="5" hasCustomPrompt="1"/>
          </p:nvPr>
        </p:nvSpPr>
        <p:spPr>
          <a:xfrm>
            <a:off x="796200" y="1633675"/>
            <a:ext cx="707400" cy="1236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5" name="Google Shape;165;p13"/>
          <p:cNvSpPr txBox="1">
            <a:spLocks noGrp="1"/>
          </p:cNvSpPr>
          <p:nvPr>
            <p:ph type="title" idx="6" hasCustomPrompt="1"/>
          </p:nvPr>
        </p:nvSpPr>
        <p:spPr>
          <a:xfrm>
            <a:off x="4750950" y="3290775"/>
            <a:ext cx="707400" cy="1236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6" name="Google Shape;166;p13"/>
          <p:cNvSpPr txBox="1">
            <a:spLocks noGrp="1"/>
          </p:cNvSpPr>
          <p:nvPr>
            <p:ph type="title" idx="7" hasCustomPrompt="1"/>
          </p:nvPr>
        </p:nvSpPr>
        <p:spPr>
          <a:xfrm>
            <a:off x="796200" y="3290900"/>
            <a:ext cx="707400" cy="1236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7" name="Google Shape;167;p13"/>
          <p:cNvSpPr txBox="1">
            <a:spLocks noGrp="1"/>
          </p:cNvSpPr>
          <p:nvPr>
            <p:ph type="title" idx="8" hasCustomPrompt="1"/>
          </p:nvPr>
        </p:nvSpPr>
        <p:spPr>
          <a:xfrm>
            <a:off x="4750950" y="1633575"/>
            <a:ext cx="707400" cy="1236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8" name="Google Shape;168;p13"/>
          <p:cNvSpPr txBox="1">
            <a:spLocks noGrp="1"/>
          </p:cNvSpPr>
          <p:nvPr>
            <p:ph type="subTitle" idx="9"/>
          </p:nvPr>
        </p:nvSpPr>
        <p:spPr>
          <a:xfrm>
            <a:off x="1578600" y="1633675"/>
            <a:ext cx="23097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9" name="Google Shape;169;p13"/>
          <p:cNvSpPr txBox="1">
            <a:spLocks noGrp="1"/>
          </p:cNvSpPr>
          <p:nvPr>
            <p:ph type="subTitle" idx="13"/>
          </p:nvPr>
        </p:nvSpPr>
        <p:spPr>
          <a:xfrm>
            <a:off x="1578600" y="3290939"/>
            <a:ext cx="23097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subTitle" idx="14"/>
          </p:nvPr>
        </p:nvSpPr>
        <p:spPr>
          <a:xfrm>
            <a:off x="5534500" y="3290901"/>
            <a:ext cx="23097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1" name="Google Shape;171;p13"/>
          <p:cNvSpPr txBox="1">
            <a:spLocks noGrp="1"/>
          </p:cNvSpPr>
          <p:nvPr>
            <p:ph type="subTitle" idx="15"/>
          </p:nvPr>
        </p:nvSpPr>
        <p:spPr>
          <a:xfrm>
            <a:off x="5534500" y="1633675"/>
            <a:ext cx="23097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72" name="Google Shape;172;p13"/>
          <p:cNvGrpSpPr/>
          <p:nvPr/>
        </p:nvGrpSpPr>
        <p:grpSpPr>
          <a:xfrm>
            <a:off x="7527475" y="-437123"/>
            <a:ext cx="2304049" cy="2076084"/>
            <a:chOff x="7527475" y="-437123"/>
            <a:chExt cx="2304049" cy="2076084"/>
          </a:xfrm>
        </p:grpSpPr>
        <p:sp>
          <p:nvSpPr>
            <p:cNvPr id="173" name="Google Shape;173;p13"/>
            <p:cNvSpPr/>
            <p:nvPr/>
          </p:nvSpPr>
          <p:spPr>
            <a:xfrm rot="-5400000" flipH="1">
              <a:off x="7653475" y="-58150"/>
              <a:ext cx="1554600" cy="15486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4" name="Google Shape;174;p13"/>
            <p:cNvGrpSpPr/>
            <p:nvPr/>
          </p:nvGrpSpPr>
          <p:grpSpPr>
            <a:xfrm>
              <a:off x="7527475" y="-190576"/>
              <a:ext cx="2304049" cy="1829537"/>
              <a:chOff x="7267300" y="-366311"/>
              <a:chExt cx="2304049" cy="1829537"/>
            </a:xfrm>
          </p:grpSpPr>
          <p:sp>
            <p:nvSpPr>
              <p:cNvPr id="175" name="Google Shape;175;p13"/>
              <p:cNvSpPr/>
              <p:nvPr/>
            </p:nvSpPr>
            <p:spPr>
              <a:xfrm rot="2699366" flipH="1">
                <a:off x="8496503" y="490078"/>
                <a:ext cx="1150392" cy="26261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3"/>
              <p:cNvSpPr/>
              <p:nvPr/>
            </p:nvSpPr>
            <p:spPr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3"/>
              <p:cNvSpPr/>
              <p:nvPr/>
            </p:nvSpPr>
            <p:spPr>
              <a:xfrm rot="2699336" flipH="1">
                <a:off x="7177884" y="-7536"/>
                <a:ext cx="1098632" cy="2019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8" name="Google Shape;178;p13"/>
            <p:cNvSpPr/>
            <p:nvPr/>
          </p:nvSpPr>
          <p:spPr>
            <a:xfrm rot="2700000">
              <a:off x="7775558" y="-183425"/>
              <a:ext cx="770464" cy="127703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 txBox="1">
            <a:spLocks noGrp="1"/>
          </p:cNvSpPr>
          <p:nvPr>
            <p:ph type="title"/>
          </p:nvPr>
        </p:nvSpPr>
        <p:spPr>
          <a:xfrm>
            <a:off x="713225" y="4090900"/>
            <a:ext cx="46209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81" name="Google Shape;181;p14"/>
          <p:cNvSpPr txBox="1">
            <a:spLocks noGrp="1"/>
          </p:cNvSpPr>
          <p:nvPr>
            <p:ph type="subTitle" idx="1"/>
          </p:nvPr>
        </p:nvSpPr>
        <p:spPr>
          <a:xfrm>
            <a:off x="713225" y="1207500"/>
            <a:ext cx="4620900" cy="277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182" name="Google Shape;182;p14"/>
          <p:cNvGrpSpPr/>
          <p:nvPr/>
        </p:nvGrpSpPr>
        <p:grpSpPr>
          <a:xfrm>
            <a:off x="6011304" y="4511176"/>
            <a:ext cx="1309796" cy="257750"/>
            <a:chOff x="-6337521" y="4362225"/>
            <a:chExt cx="1309796" cy="257750"/>
          </a:xfrm>
        </p:grpSpPr>
        <p:sp>
          <p:nvSpPr>
            <p:cNvPr id="183" name="Google Shape;183;p14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16"/>
          <p:cNvSpPr txBox="1">
            <a:spLocks noGrp="1"/>
          </p:cNvSpPr>
          <p:nvPr>
            <p:ph type="subTitle" idx="1"/>
          </p:nvPr>
        </p:nvSpPr>
        <p:spPr>
          <a:xfrm>
            <a:off x="5064125" y="2877325"/>
            <a:ext cx="2736900" cy="12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6" name="Google Shape;226;p16"/>
          <p:cNvSpPr txBox="1">
            <a:spLocks noGrp="1"/>
          </p:cNvSpPr>
          <p:nvPr>
            <p:ph type="subTitle" idx="2"/>
          </p:nvPr>
        </p:nvSpPr>
        <p:spPr>
          <a:xfrm>
            <a:off x="1342985" y="2877325"/>
            <a:ext cx="2736900" cy="12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7" name="Google Shape;227;p16"/>
          <p:cNvSpPr txBox="1">
            <a:spLocks noGrp="1"/>
          </p:cNvSpPr>
          <p:nvPr>
            <p:ph type="subTitle" idx="3"/>
          </p:nvPr>
        </p:nvSpPr>
        <p:spPr>
          <a:xfrm>
            <a:off x="5064125" y="2447425"/>
            <a:ext cx="27369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28" name="Google Shape;228;p16"/>
          <p:cNvSpPr txBox="1">
            <a:spLocks noGrp="1"/>
          </p:cNvSpPr>
          <p:nvPr>
            <p:ph type="subTitle" idx="4"/>
          </p:nvPr>
        </p:nvSpPr>
        <p:spPr>
          <a:xfrm>
            <a:off x="1342975" y="2447425"/>
            <a:ext cx="27369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229" name="Google Shape;229;p16"/>
          <p:cNvGrpSpPr/>
          <p:nvPr/>
        </p:nvGrpSpPr>
        <p:grpSpPr>
          <a:xfrm>
            <a:off x="7432804" y="387525"/>
            <a:ext cx="2398720" cy="5136986"/>
            <a:chOff x="7432804" y="387525"/>
            <a:chExt cx="2398720" cy="5136986"/>
          </a:xfrm>
        </p:grpSpPr>
        <p:grpSp>
          <p:nvGrpSpPr>
            <p:cNvPr id="230" name="Google Shape;230;p16"/>
            <p:cNvGrpSpPr/>
            <p:nvPr/>
          </p:nvGrpSpPr>
          <p:grpSpPr>
            <a:xfrm rot="10800000" flipH="1">
              <a:off x="7527475" y="3448427"/>
              <a:ext cx="2304049" cy="2076084"/>
              <a:chOff x="7527475" y="-437123"/>
              <a:chExt cx="2304049" cy="2076084"/>
            </a:xfrm>
          </p:grpSpPr>
          <p:sp>
            <p:nvSpPr>
              <p:cNvPr id="231" name="Google Shape;231;p16"/>
              <p:cNvSpPr/>
              <p:nvPr/>
            </p:nvSpPr>
            <p:spPr>
              <a:xfrm rot="-5400000" flipH="1">
                <a:off x="7653475" y="-58150"/>
                <a:ext cx="1554600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32" name="Google Shape;232;p16"/>
              <p:cNvGrpSpPr/>
              <p:nvPr/>
            </p:nvGrpSpPr>
            <p:grpSpPr>
              <a:xfrm>
                <a:off x="7527475" y="-190576"/>
                <a:ext cx="2304049" cy="1829537"/>
                <a:chOff x="7267300" y="-366311"/>
                <a:chExt cx="2304049" cy="1829537"/>
              </a:xfrm>
            </p:grpSpPr>
            <p:sp>
              <p:nvSpPr>
                <p:cNvPr id="233" name="Google Shape;233;p16"/>
                <p:cNvSpPr/>
                <p:nvPr/>
              </p:nvSpPr>
              <p:spPr>
                <a:xfrm rot="2699366" flipH="1">
                  <a:off x="8496503" y="490078"/>
                  <a:ext cx="1150392" cy="26261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4" name="Google Shape;234;p16"/>
                <p:cNvSpPr/>
                <p:nvPr/>
              </p:nvSpPr>
              <p:spPr>
                <a:xfrm>
                  <a:off x="7719598" y="153426"/>
                  <a:ext cx="1309800" cy="13098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lg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" name="Google Shape;235;p16"/>
                <p:cNvSpPr/>
                <p:nvPr/>
              </p:nvSpPr>
              <p:spPr>
                <a:xfrm rot="2699336" flipH="1">
                  <a:off x="7177884" y="-7536"/>
                  <a:ext cx="1098632" cy="20195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36" name="Google Shape;236;p16"/>
              <p:cNvSpPr/>
              <p:nvPr/>
            </p:nvSpPr>
            <p:spPr>
              <a:xfrm rot="2700000">
                <a:off x="7775558" y="-183425"/>
                <a:ext cx="770464" cy="127703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7" name="Google Shape;237;p16"/>
            <p:cNvGrpSpPr/>
            <p:nvPr/>
          </p:nvGrpSpPr>
          <p:grpSpPr>
            <a:xfrm rot="10800000" flipH="1">
              <a:off x="7432804" y="387525"/>
              <a:ext cx="1309796" cy="257750"/>
              <a:chOff x="-6337521" y="4362225"/>
              <a:chExt cx="1309796" cy="257750"/>
            </a:xfrm>
          </p:grpSpPr>
          <p:sp>
            <p:nvSpPr>
              <p:cNvPr id="238" name="Google Shape;238;p16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16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16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6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6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16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6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6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6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6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2_1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2"/>
          <p:cNvSpPr txBox="1">
            <a:spLocks noGrp="1"/>
          </p:cNvSpPr>
          <p:nvPr>
            <p:ph type="title"/>
          </p:nvPr>
        </p:nvSpPr>
        <p:spPr>
          <a:xfrm>
            <a:off x="720000" y="1222900"/>
            <a:ext cx="4275900" cy="173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22"/>
          <p:cNvSpPr txBox="1">
            <a:spLocks noGrp="1"/>
          </p:cNvSpPr>
          <p:nvPr>
            <p:ph type="subTitle" idx="1"/>
          </p:nvPr>
        </p:nvSpPr>
        <p:spPr>
          <a:xfrm>
            <a:off x="720000" y="3055100"/>
            <a:ext cx="3519600" cy="86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22"/>
          <p:cNvSpPr>
            <a:spLocks noGrp="1"/>
          </p:cNvSpPr>
          <p:nvPr>
            <p:ph type="pic" idx="2"/>
          </p:nvPr>
        </p:nvSpPr>
        <p:spPr>
          <a:xfrm>
            <a:off x="5397500" y="1055100"/>
            <a:ext cx="3033300" cy="30333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367" name="Google Shape;367;p22"/>
          <p:cNvGrpSpPr/>
          <p:nvPr/>
        </p:nvGrpSpPr>
        <p:grpSpPr>
          <a:xfrm rot="10800000" flipH="1">
            <a:off x="5362579" y="4349289"/>
            <a:ext cx="1309796" cy="257750"/>
            <a:chOff x="-6337521" y="4362225"/>
            <a:chExt cx="1309796" cy="257750"/>
          </a:xfrm>
        </p:grpSpPr>
        <p:sp>
          <p:nvSpPr>
            <p:cNvPr id="368" name="Google Shape;368;p22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2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2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2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2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2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2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25"/>
          <p:cNvGrpSpPr/>
          <p:nvPr/>
        </p:nvGrpSpPr>
        <p:grpSpPr>
          <a:xfrm>
            <a:off x="7267300" y="-374475"/>
            <a:ext cx="2456449" cy="5138686"/>
            <a:chOff x="7267300" y="-374475"/>
            <a:chExt cx="2456449" cy="5138686"/>
          </a:xfrm>
        </p:grpSpPr>
        <p:grpSp>
          <p:nvGrpSpPr>
            <p:cNvPr id="410" name="Google Shape;410;p25"/>
            <p:cNvGrpSpPr/>
            <p:nvPr/>
          </p:nvGrpSpPr>
          <p:grpSpPr>
            <a:xfrm>
              <a:off x="7432804" y="4506461"/>
              <a:ext cx="1309796" cy="257750"/>
              <a:chOff x="-6337521" y="4362225"/>
              <a:chExt cx="1309796" cy="257750"/>
            </a:xfrm>
          </p:grpSpPr>
          <p:sp>
            <p:nvSpPr>
              <p:cNvPr id="411" name="Google Shape;411;p25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25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25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25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25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25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25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25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25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25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1" name="Google Shape;421;p25"/>
            <p:cNvGrpSpPr/>
            <p:nvPr/>
          </p:nvGrpSpPr>
          <p:grpSpPr>
            <a:xfrm>
              <a:off x="7267300" y="-374475"/>
              <a:ext cx="2456449" cy="1917411"/>
              <a:chOff x="7267300" y="-366311"/>
              <a:chExt cx="2456449" cy="1917411"/>
            </a:xfrm>
          </p:grpSpPr>
          <p:sp>
            <p:nvSpPr>
              <p:cNvPr id="422" name="Google Shape;422;p25"/>
              <p:cNvSpPr/>
              <p:nvPr/>
            </p:nvSpPr>
            <p:spPr>
              <a:xfrm rot="-5400000" flipH="1">
                <a:off x="7653475" y="-500"/>
                <a:ext cx="1554600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25"/>
              <p:cNvSpPr/>
              <p:nvPr/>
            </p:nvSpPr>
            <p:spPr>
              <a:xfrm rot="2699366" flipH="1">
                <a:off x="8648903" y="642478"/>
                <a:ext cx="1150392" cy="26261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5"/>
              <p:cNvSpPr/>
              <p:nvPr/>
            </p:nvSpPr>
            <p:spPr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25"/>
              <p:cNvSpPr/>
              <p:nvPr/>
            </p:nvSpPr>
            <p:spPr>
              <a:xfrm rot="2699336" flipH="1">
                <a:off x="7177884" y="-7536"/>
                <a:ext cx="1098632" cy="2019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" name="Google Shape;427;p26"/>
          <p:cNvGrpSpPr/>
          <p:nvPr/>
        </p:nvGrpSpPr>
        <p:grpSpPr>
          <a:xfrm>
            <a:off x="7267300" y="387525"/>
            <a:ext cx="2456449" cy="5138686"/>
            <a:chOff x="7267300" y="387525"/>
            <a:chExt cx="2456449" cy="5138686"/>
          </a:xfrm>
        </p:grpSpPr>
        <p:grpSp>
          <p:nvGrpSpPr>
            <p:cNvPr id="428" name="Google Shape;428;p26"/>
            <p:cNvGrpSpPr/>
            <p:nvPr/>
          </p:nvGrpSpPr>
          <p:grpSpPr>
            <a:xfrm rot="10800000" flipH="1">
              <a:off x="7432804" y="387525"/>
              <a:ext cx="1309796" cy="257750"/>
              <a:chOff x="-6337521" y="4362225"/>
              <a:chExt cx="1309796" cy="257750"/>
            </a:xfrm>
          </p:grpSpPr>
          <p:sp>
            <p:nvSpPr>
              <p:cNvPr id="429" name="Google Shape;429;p26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26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26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26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26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26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26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26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26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6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9" name="Google Shape;439;p26"/>
            <p:cNvGrpSpPr/>
            <p:nvPr/>
          </p:nvGrpSpPr>
          <p:grpSpPr>
            <a:xfrm rot="10800000" flipH="1">
              <a:off x="7267300" y="3608800"/>
              <a:ext cx="2456449" cy="1917411"/>
              <a:chOff x="7267300" y="-366311"/>
              <a:chExt cx="2456449" cy="1917411"/>
            </a:xfrm>
          </p:grpSpPr>
          <p:sp>
            <p:nvSpPr>
              <p:cNvPr id="440" name="Google Shape;440;p26"/>
              <p:cNvSpPr/>
              <p:nvPr/>
            </p:nvSpPr>
            <p:spPr>
              <a:xfrm rot="-5400000" flipH="1">
                <a:off x="7653475" y="-500"/>
                <a:ext cx="1554600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26"/>
              <p:cNvSpPr/>
              <p:nvPr/>
            </p:nvSpPr>
            <p:spPr>
              <a:xfrm rot="2699366" flipH="1">
                <a:off x="8648903" y="642478"/>
                <a:ext cx="1150392" cy="26261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26"/>
              <p:cNvSpPr/>
              <p:nvPr/>
            </p:nvSpPr>
            <p:spPr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26"/>
              <p:cNvSpPr/>
              <p:nvPr/>
            </p:nvSpPr>
            <p:spPr>
              <a:xfrm rot="2699336" flipH="1">
                <a:off x="7177884" y="-7536"/>
                <a:ext cx="1098632" cy="2019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8" r:id="rId4"/>
    <p:sldLayoutId id="2147483659" r:id="rId5"/>
    <p:sldLayoutId id="2147483660" r:id="rId6"/>
    <p:sldLayoutId id="2147483662" r:id="rId7"/>
    <p:sldLayoutId id="2147483668" r:id="rId8"/>
    <p:sldLayoutId id="2147483671" r:id="rId9"/>
    <p:sldLayoutId id="2147483672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0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4807500" cy="2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 smtClean="0">
                <a:latin typeface="Archivo Black"/>
                <a:ea typeface="Archivo Black"/>
                <a:cs typeface="Archivo Black"/>
                <a:sym typeface="Archivo Black"/>
              </a:rPr>
              <a:t>.NET</a:t>
            </a:r>
            <a:br>
              <a:rPr lang="en" b="0" dirty="0" smtClean="0">
                <a:latin typeface="Archivo Black"/>
                <a:ea typeface="Archivo Black"/>
                <a:cs typeface="Archivo Black"/>
                <a:sym typeface="Archivo Black"/>
              </a:rPr>
            </a:br>
            <a:r>
              <a:rPr lang="en" sz="1800" dirty="0" smtClean="0">
                <a:latin typeface="Archivo"/>
                <a:ea typeface="Archivo"/>
                <a:cs typeface="Archivo"/>
                <a:sym typeface="Archivo"/>
              </a:rPr>
              <a:t>NETWORK ENABLED TECHNOLOGIES</a:t>
            </a:r>
            <a:endParaRPr dirty="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55" name="Google Shape;455;p30"/>
          <p:cNvSpPr txBox="1">
            <a:spLocks noGrp="1"/>
          </p:cNvSpPr>
          <p:nvPr>
            <p:ph type="subTitle" idx="1"/>
          </p:nvPr>
        </p:nvSpPr>
        <p:spPr>
          <a:xfrm>
            <a:off x="713225" y="2733950"/>
            <a:ext cx="2237400" cy="6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Created by: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/>
              <a:t>TECH TITANS</a:t>
            </a:r>
            <a:endParaRPr b="1" dirty="0"/>
          </a:p>
        </p:txBody>
      </p:sp>
      <p:grpSp>
        <p:nvGrpSpPr>
          <p:cNvPr id="456" name="Google Shape;456;p30"/>
          <p:cNvGrpSpPr/>
          <p:nvPr/>
        </p:nvGrpSpPr>
        <p:grpSpPr>
          <a:xfrm>
            <a:off x="4714200" y="683716"/>
            <a:ext cx="4429800" cy="4466709"/>
            <a:chOff x="4714200" y="683716"/>
            <a:chExt cx="4429800" cy="4466709"/>
          </a:xfrm>
        </p:grpSpPr>
        <p:sp>
          <p:nvSpPr>
            <p:cNvPr id="457" name="Google Shape;457;p30"/>
            <p:cNvSpPr/>
            <p:nvPr/>
          </p:nvSpPr>
          <p:spPr>
            <a:xfrm flipH="1">
              <a:off x="4714200" y="783325"/>
              <a:ext cx="4429800" cy="43671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0"/>
            <p:cNvSpPr/>
            <p:nvPr/>
          </p:nvSpPr>
          <p:spPr>
            <a:xfrm rot="-2700000">
              <a:off x="7675121" y="1303413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0"/>
            <p:cNvSpPr/>
            <p:nvPr/>
          </p:nvSpPr>
          <p:spPr>
            <a:xfrm rot="-2699590">
              <a:off x="4984509" y="3275203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0"/>
            <p:cNvSpPr/>
            <p:nvPr/>
          </p:nvSpPr>
          <p:spPr>
            <a:xfrm rot="-2699590">
              <a:off x="7108289" y="20926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0"/>
            <p:cNvSpPr/>
            <p:nvPr/>
          </p:nvSpPr>
          <p:spPr>
            <a:xfrm rot="-2699590">
              <a:off x="6792716" y="1243005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0"/>
            <p:cNvSpPr/>
            <p:nvPr/>
          </p:nvSpPr>
          <p:spPr>
            <a:xfrm rot="-2699590">
              <a:off x="5127485" y="3849460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3" name="Google Shape;463;p30"/>
          <p:cNvGrpSpPr/>
          <p:nvPr/>
        </p:nvGrpSpPr>
        <p:grpSpPr>
          <a:xfrm>
            <a:off x="2669704" y="4362225"/>
            <a:ext cx="1309796" cy="257750"/>
            <a:chOff x="-6337521" y="4362225"/>
            <a:chExt cx="1309796" cy="257750"/>
          </a:xfrm>
        </p:grpSpPr>
        <p:sp>
          <p:nvSpPr>
            <p:cNvPr id="464" name="Google Shape;464;p30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0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0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0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0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0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0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0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0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0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5" name="Google Shape;475;p30"/>
          <p:cNvGrpSpPr/>
          <p:nvPr/>
        </p:nvGrpSpPr>
        <p:grpSpPr>
          <a:xfrm>
            <a:off x="4643689" y="2814981"/>
            <a:ext cx="2188531" cy="1862750"/>
            <a:chOff x="4643689" y="2814981"/>
            <a:chExt cx="2188531" cy="1862750"/>
          </a:xfrm>
        </p:grpSpPr>
        <p:sp>
          <p:nvSpPr>
            <p:cNvPr id="476" name="Google Shape;476;p30"/>
            <p:cNvSpPr/>
            <p:nvPr/>
          </p:nvSpPr>
          <p:spPr>
            <a:xfrm rot="-2700000">
              <a:off x="5941284" y="4227394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0"/>
            <p:cNvSpPr/>
            <p:nvPr/>
          </p:nvSpPr>
          <p:spPr>
            <a:xfrm>
              <a:off x="4643689" y="2814981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4533" y="1874052"/>
            <a:ext cx="3526419" cy="1983611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WHAT IS .</a:t>
            </a:r>
            <a:r>
              <a:rPr lang="en-IN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NET?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0" name="Google Shape;510;p33"/>
          <p:cNvSpPr txBox="1">
            <a:spLocks noGrp="1"/>
          </p:cNvSpPr>
          <p:nvPr>
            <p:ph type="subTitle" idx="2"/>
          </p:nvPr>
        </p:nvSpPr>
        <p:spPr>
          <a:xfrm>
            <a:off x="720000" y="1288472"/>
            <a:ext cx="7867048" cy="31255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.NET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software development platform that helps developers build various applications and connect information, people, systems,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devices.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.NET provides: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major architect tied to the success of .NET's key components is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Anders Hejlsberg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404343" y="2319251"/>
            <a:ext cx="5254150" cy="1704109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runtime to execute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huge library of ready-made functionalities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multiple programming languages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to build web, desktop, mobile, cloud,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gaming applications</a:t>
            </a:r>
            <a:endParaRPr lang="en-US" altLang="en-US" sz="1200" dirty="0">
              <a:solidFill>
                <a:srgbClr val="8AD0D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844"/>
            <a:ext cx="65" cy="4628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92046" rIns="0" bIns="9204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" y="149556"/>
            <a:ext cx="65" cy="4628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92046" rIns="0" bIns="9204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1"/>
          <p:cNvSpPr txBox="1">
            <a:spLocks noGrp="1"/>
          </p:cNvSpPr>
          <p:nvPr>
            <p:ph type="title"/>
          </p:nvPr>
        </p:nvSpPr>
        <p:spPr>
          <a:xfrm>
            <a:off x="703375" y="28708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HISTORY OF .NET…</a:t>
            </a:r>
            <a:endParaRPr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83" name="Google Shape;483;p31"/>
          <p:cNvGraphicFramePr/>
          <p:nvPr>
            <p:extLst>
              <p:ext uri="{D42A27DB-BD31-4B8C-83A1-F6EECF244321}">
                <p14:modId xmlns:p14="http://schemas.microsoft.com/office/powerpoint/2010/main" val="3237356571"/>
              </p:ext>
            </p:extLst>
          </p:nvPr>
        </p:nvGraphicFramePr>
        <p:xfrm>
          <a:off x="595155" y="2554780"/>
          <a:ext cx="7704000" cy="1807625"/>
        </p:xfrm>
        <a:graphic>
          <a:graphicData uri="http://schemas.openxmlformats.org/drawingml/2006/table">
            <a:tbl>
              <a:tblPr>
                <a:noFill/>
                <a:tableStyleId>{2B963E07-F4BC-48A0-9136-190E218839C6}</a:tableStyleId>
              </a:tblPr>
              <a:tblGrid>
                <a:gridCol w="2325075"/>
                <a:gridCol w="5378925"/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cap="none" dirty="0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           2000 – </a:t>
                      </a:r>
                      <a:r>
                        <a:rPr lang="en-IN" sz="1000" b="1" cap="none" dirty="0" err="1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.Net</a:t>
                      </a:r>
                      <a:r>
                        <a:rPr lang="en-IN" sz="1000" b="1" cap="none" dirty="0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 announced </a:t>
                      </a:r>
                      <a:endParaRPr sz="1000" b="1" u="sng" dirty="0">
                        <a:solidFill>
                          <a:schemeClr val="bg1"/>
                        </a:solidFill>
                        <a:latin typeface="Manrope" panose="020B0604020202020204" charset="0"/>
                        <a:ea typeface="Manrope"/>
                        <a:cs typeface="Times New Roman" panose="02020603050405020304" pitchFamily="18" charset="0"/>
                        <a:sym typeface="Manrop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Wingdings" panose="05000000000000000000" pitchFamily="2" charset="2"/>
                        <a:buNone/>
                      </a:pP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Microsoft introduced the </a:t>
                      </a:r>
                      <a:r>
                        <a:rPr lang="en-IN" sz="1000" cap="none" dirty="0" err="1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.Net</a:t>
                      </a: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framework, c#, and </a:t>
                      </a:r>
                      <a:r>
                        <a:rPr lang="en-IN" sz="1000" cap="none" dirty="0" err="1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clr</a:t>
                      </a: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simplify development and compete with java</a:t>
                      </a:r>
                      <a:endParaRPr lang="en-IN" sz="1000" cap="none" dirty="0">
                        <a:solidFill>
                          <a:srgbClr val="09224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cap="none" dirty="0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2002 – </a:t>
                      </a:r>
                      <a:r>
                        <a:rPr lang="en-IN" sz="1000" b="1" cap="none" dirty="0" err="1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.Net</a:t>
                      </a:r>
                      <a:r>
                        <a:rPr lang="en-IN" sz="1000" b="1" cap="none" dirty="0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 framework 1.0</a:t>
                      </a:r>
                      <a:endParaRPr sz="1000" b="1" u="sng" dirty="0">
                        <a:solidFill>
                          <a:schemeClr val="bg1"/>
                        </a:solidFill>
                        <a:latin typeface="Manrope" panose="020B0604020202020204" charset="0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Wingdings" panose="05000000000000000000" pitchFamily="2" charset="2"/>
                        <a:buNone/>
                      </a:pP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Released with CLR 1.0, base class library, ASP.NET, windows forms, and support for C# &amp; </a:t>
                      </a:r>
                      <a:r>
                        <a:rPr lang="en-IN" sz="1000" cap="none" dirty="0" err="1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VB.Net</a:t>
                      </a: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000" cap="none" dirty="0">
                        <a:solidFill>
                          <a:srgbClr val="09224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cap="none" dirty="0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           2016 – </a:t>
                      </a:r>
                      <a:r>
                        <a:rPr lang="en-IN" sz="1000" b="1" cap="none" dirty="0" err="1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.Net</a:t>
                      </a:r>
                      <a:r>
                        <a:rPr lang="en-IN" sz="1000" b="1" cap="none" dirty="0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 core </a:t>
                      </a:r>
                      <a:endParaRPr sz="1000" b="1" u="sng" dirty="0">
                        <a:solidFill>
                          <a:schemeClr val="bg1"/>
                        </a:solidFill>
                        <a:latin typeface="Manrope" panose="020B0604020202020204" charset="0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Wingdings" panose="05000000000000000000" pitchFamily="2" charset="2"/>
                        <a:buNone/>
                      </a:pP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Cross-platform, open-source, fast, and lightweight—runs on windows, </a:t>
                      </a:r>
                      <a:r>
                        <a:rPr lang="en-IN" sz="1000" cap="none" dirty="0" err="1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linux</a:t>
                      </a: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</a:t>
                      </a:r>
                      <a:r>
                        <a:rPr lang="en-IN" sz="1000" cap="none" dirty="0" err="1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macos</a:t>
                      </a: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000" cap="none" dirty="0">
                        <a:solidFill>
                          <a:srgbClr val="09224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cap="none" dirty="0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           2020 – </a:t>
                      </a:r>
                      <a:r>
                        <a:rPr lang="en-IN" sz="1000" b="1" cap="none" dirty="0" err="1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.Net</a:t>
                      </a:r>
                      <a:r>
                        <a:rPr lang="en-IN" sz="1000" b="1" cap="none" dirty="0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 5 </a:t>
                      </a:r>
                      <a:endParaRPr sz="1000" b="1" u="sng" dirty="0">
                        <a:solidFill>
                          <a:schemeClr val="bg1"/>
                        </a:solidFill>
                        <a:latin typeface="Manrope" panose="020B0604020202020204" charset="0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Wingdings" panose="05000000000000000000" pitchFamily="2" charset="2"/>
                        <a:buNone/>
                      </a:pP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Unified </a:t>
                      </a:r>
                      <a:r>
                        <a:rPr lang="en-IN" sz="1000" cap="none" dirty="0" err="1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.Net</a:t>
                      </a: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framework, </a:t>
                      </a:r>
                      <a:r>
                        <a:rPr lang="en-IN" sz="1000" cap="none" dirty="0" err="1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.Net</a:t>
                      </a: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core, and </a:t>
                      </a:r>
                      <a:r>
                        <a:rPr lang="en-IN" sz="1000" cap="none" dirty="0" err="1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xamarin</a:t>
                      </a: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into one modern platform.</a:t>
                      </a:r>
                      <a:endParaRPr lang="en-IN" sz="1000" cap="none" dirty="0">
                        <a:solidFill>
                          <a:srgbClr val="09224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cap="none" dirty="0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           Today – </a:t>
                      </a:r>
                      <a:r>
                        <a:rPr lang="en-IN" sz="1000" b="1" cap="none" dirty="0" err="1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.Net</a:t>
                      </a:r>
                      <a:r>
                        <a:rPr lang="en-IN" sz="1000" b="1" cap="none" dirty="0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 10</a:t>
                      </a:r>
                      <a:endParaRPr sz="1000" b="1" u="sng" dirty="0">
                        <a:solidFill>
                          <a:schemeClr val="bg1"/>
                        </a:solidFill>
                        <a:latin typeface="Manrope" panose="020B0604020202020204" charset="0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Wingdings" panose="05000000000000000000" pitchFamily="2" charset="2"/>
                        <a:buNone/>
                      </a:pPr>
                      <a:r>
                        <a:rPr lang="en-IN" sz="1000" cap="none" dirty="0" err="1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Aunified</a:t>
                      </a: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cross-platform, high-performance framework for web, mobile, desktop, cloud, and AI apps.</a:t>
                      </a:r>
                      <a:endParaRPr lang="en-IN" sz="1000" cap="none" dirty="0">
                        <a:solidFill>
                          <a:srgbClr val="09224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84" name="Google Shape;484;p31"/>
          <p:cNvSpPr txBox="1"/>
          <p:nvPr/>
        </p:nvSpPr>
        <p:spPr>
          <a:xfrm>
            <a:off x="844691" y="1001099"/>
            <a:ext cx="77040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Pre-.NET technologies:</a:t>
            </a:r>
            <a:r>
              <a:rPr lang="en-US" sz="1200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Before .NET, Windows applications relied on technologies such as the Win32 API, VB6 (Visual Basic 6), and C</a:t>
            </a:r>
            <a:r>
              <a:rPr lang="en-US" sz="1200" dirty="0" smtClean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++.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Drawbacks:</a:t>
            </a:r>
            <a:r>
              <a:rPr lang="en-US" sz="1200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These older technologies were characterized as hard to maintain, inconsistent, missing essential features like garbage collection, and complex for beginners.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1200" dirty="0">
              <a:solidFill>
                <a:srgbClr val="0922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0" name="Google Shape;830;p46"/>
          <p:cNvGrpSpPr/>
          <p:nvPr/>
        </p:nvGrpSpPr>
        <p:grpSpPr>
          <a:xfrm>
            <a:off x="4643689" y="-2084"/>
            <a:ext cx="4500311" cy="4367100"/>
            <a:chOff x="4643689" y="-2084"/>
            <a:chExt cx="4500311" cy="4367100"/>
          </a:xfrm>
        </p:grpSpPr>
        <p:sp>
          <p:nvSpPr>
            <p:cNvPr id="831" name="Google Shape;831;p46"/>
            <p:cNvSpPr/>
            <p:nvPr/>
          </p:nvSpPr>
          <p:spPr>
            <a:xfrm rot="10800000">
              <a:off x="4714200" y="-2084"/>
              <a:ext cx="4429800" cy="43671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6"/>
            <p:cNvSpPr/>
            <p:nvPr/>
          </p:nvSpPr>
          <p:spPr>
            <a:xfrm rot="-8100000" flipH="1">
              <a:off x="7675121" y="3729952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6"/>
            <p:cNvSpPr/>
            <p:nvPr/>
          </p:nvSpPr>
          <p:spPr>
            <a:xfrm rot="-8100410" flipH="1">
              <a:off x="4984509" y="1546455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6"/>
            <p:cNvSpPr/>
            <p:nvPr/>
          </p:nvSpPr>
          <p:spPr>
            <a:xfrm rot="-8100410" flipH="1">
              <a:off x="7200339" y="2135756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6"/>
            <p:cNvSpPr/>
            <p:nvPr/>
          </p:nvSpPr>
          <p:spPr>
            <a:xfrm rot="-8100410" flipH="1">
              <a:off x="7200341" y="3051389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6"/>
            <p:cNvSpPr/>
            <p:nvPr/>
          </p:nvSpPr>
          <p:spPr>
            <a:xfrm rot="-8100410" flipH="1">
              <a:off x="5127485" y="821159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6"/>
            <p:cNvSpPr/>
            <p:nvPr/>
          </p:nvSpPr>
          <p:spPr>
            <a:xfrm rot="10800000" flipH="1">
              <a:off x="4643689" y="736759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6"/>
            <p:cNvSpPr/>
            <p:nvPr/>
          </p:nvSpPr>
          <p:spPr>
            <a:xfrm rot="-8100000" flipH="1">
              <a:off x="6246084" y="805971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9" name="Google Shape;839;p46"/>
          <p:cNvSpPr txBox="1">
            <a:spLocks noGrp="1"/>
          </p:cNvSpPr>
          <p:nvPr>
            <p:ph type="title"/>
          </p:nvPr>
        </p:nvSpPr>
        <p:spPr>
          <a:xfrm>
            <a:off x="160078" y="-768968"/>
            <a:ext cx="4275900" cy="173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MICROSOFT  C#</a:t>
            </a:r>
            <a:endParaRPr dirty="0"/>
          </a:p>
        </p:txBody>
      </p:sp>
      <p:sp>
        <p:nvSpPr>
          <p:cNvPr id="840" name="Google Shape;840;p46"/>
          <p:cNvSpPr txBox="1">
            <a:spLocks noGrp="1"/>
          </p:cNvSpPr>
          <p:nvPr>
            <p:ph type="subTitle" idx="1"/>
          </p:nvPr>
        </p:nvSpPr>
        <p:spPr>
          <a:xfrm>
            <a:off x="203533" y="1211667"/>
            <a:ext cx="4881298" cy="35320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 (pronounced c-sharp) is a modern, object-oriented programming language created by Microsoft for building powerful, safe, and high-performance applications on the .NET platform.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designed to be easy to learn, clean, and structured while offering advanced features for real-world software development.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provides: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 runtime to run your code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 library of ready-made functions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Tools to make development fast and easy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5849" y="1560831"/>
            <a:ext cx="2818073" cy="1585166"/>
          </a:xfrm>
          <a:prstGeom prst="rect">
            <a:avLst/>
          </a:prstGeom>
          <a:ln>
            <a:noFill/>
          </a:ln>
          <a:effectLst>
            <a:reflection stA="46000" endPos="36000" dist="127000" dir="5400000" sy="-100000" algn="bl" rotWithShape="0"/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0"/>
          <p:cNvSpPr txBox="1">
            <a:spLocks noGrp="1"/>
          </p:cNvSpPr>
          <p:nvPr>
            <p:ph type="title"/>
          </p:nvPr>
        </p:nvSpPr>
        <p:spPr>
          <a:xfrm>
            <a:off x="215175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WHY .NET?</a:t>
            </a:r>
            <a:endParaRPr dirty="0"/>
          </a:p>
        </p:txBody>
      </p:sp>
      <p:sp>
        <p:nvSpPr>
          <p:cNvPr id="701" name="Google Shape;701;p40"/>
          <p:cNvSpPr txBox="1">
            <a:spLocks noGrp="1"/>
          </p:cNvSpPr>
          <p:nvPr>
            <p:ph type="subTitle" idx="3"/>
          </p:nvPr>
        </p:nvSpPr>
        <p:spPr>
          <a:xfrm>
            <a:off x="4614000" y="1256909"/>
            <a:ext cx="3190875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/>
              <a:t>HOW .NET SOLVED IT</a:t>
            </a:r>
            <a:endParaRPr sz="1800" dirty="0"/>
          </a:p>
        </p:txBody>
      </p:sp>
      <p:sp>
        <p:nvSpPr>
          <p:cNvPr id="702" name="Google Shape;702;p40"/>
          <p:cNvSpPr txBox="1">
            <a:spLocks noGrp="1"/>
          </p:cNvSpPr>
          <p:nvPr>
            <p:ph type="subTitle" idx="4"/>
          </p:nvPr>
        </p:nvSpPr>
        <p:spPr>
          <a:xfrm>
            <a:off x="555575" y="1256909"/>
            <a:ext cx="27369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/>
              <a:t>PROBLEM</a:t>
            </a:r>
            <a:endParaRPr sz="1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056978"/>
              </p:ext>
            </p:extLst>
          </p:nvPr>
        </p:nvGraphicFramePr>
        <p:xfrm>
          <a:off x="572508" y="1753657"/>
          <a:ext cx="3722687" cy="2351642"/>
        </p:xfrm>
        <a:graphic>
          <a:graphicData uri="http://schemas.openxmlformats.org/drawingml/2006/table">
            <a:tbl>
              <a:tblPr/>
              <a:tblGrid>
                <a:gridCol w="3722687"/>
              </a:tblGrid>
              <a:tr h="459541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 to build apps in older Windows technologies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2595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built-in memory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2595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consistent language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9541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Windows-only limitations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2595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 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9541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 for fast, scalable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049735"/>
              </p:ext>
            </p:extLst>
          </p:nvPr>
        </p:nvGraphicFramePr>
        <p:xfrm>
          <a:off x="4597931" y="1667936"/>
          <a:ext cx="3928002" cy="2480733"/>
        </p:xfrm>
        <a:graphic>
          <a:graphicData uri="http://schemas.openxmlformats.org/drawingml/2006/table">
            <a:tbl>
              <a:tblPr/>
              <a:tblGrid>
                <a:gridCol w="3928002"/>
              </a:tblGrid>
              <a:tr h="503078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Provided unified library and runtime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3833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Garbage Collection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3833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CLS, CTS, CLR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3078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.NET Core → Cross platform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3833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Code Access 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3078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Modern JIT compiler, optimized runtime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4"/>
          <p:cNvSpPr/>
          <p:nvPr/>
        </p:nvSpPr>
        <p:spPr>
          <a:xfrm rot="-8100000" flipH="1">
            <a:off x="7675121" y="3741148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8" name="Google Shape;518;p34"/>
          <p:cNvGrpSpPr/>
          <p:nvPr/>
        </p:nvGrpSpPr>
        <p:grpSpPr>
          <a:xfrm>
            <a:off x="5100984" y="-343157"/>
            <a:ext cx="5490816" cy="5475238"/>
            <a:chOff x="5100984" y="-343157"/>
            <a:chExt cx="5490816" cy="5475238"/>
          </a:xfrm>
        </p:grpSpPr>
        <p:sp>
          <p:nvSpPr>
            <p:cNvPr id="519" name="Google Shape;519;p34"/>
            <p:cNvSpPr/>
            <p:nvPr/>
          </p:nvSpPr>
          <p:spPr>
            <a:xfrm rot="10800000">
              <a:off x="5427300" y="-11419"/>
              <a:ext cx="5164500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4"/>
            <p:cNvSpPr/>
            <p:nvPr/>
          </p:nvSpPr>
          <p:spPr>
            <a:xfrm rot="-8100410" flipH="1">
              <a:off x="7119560" y="1497006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4"/>
            <p:cNvSpPr/>
            <p:nvPr/>
          </p:nvSpPr>
          <p:spPr>
            <a:xfrm rot="-8100000" flipH="1">
              <a:off x="8492184" y="31839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4"/>
            <p:cNvSpPr/>
            <p:nvPr/>
          </p:nvSpPr>
          <p:spPr>
            <a:xfrm rot="10800000" flipH="1">
              <a:off x="6015289" y="824156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4"/>
            <p:cNvSpPr/>
            <p:nvPr/>
          </p:nvSpPr>
          <p:spPr>
            <a:xfrm rot="-8100000" flipH="1">
              <a:off x="6720959" y="1241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4"/>
            <p:cNvSpPr/>
            <p:nvPr/>
          </p:nvSpPr>
          <p:spPr>
            <a:xfrm rot="-8100410" flipH="1">
              <a:off x="4955884" y="2382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698;p40"/>
          <p:cNvSpPr txBox="1">
            <a:spLocks/>
          </p:cNvSpPr>
          <p:nvPr/>
        </p:nvSpPr>
        <p:spPr>
          <a:xfrm>
            <a:off x="227875" y="1148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2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-IN" sz="3200" b="1" dirty="0"/>
              <a:t>.NET ARCHITECTURE </a:t>
            </a:r>
            <a:endParaRPr lang="en-IN" sz="3200" dirty="0"/>
          </a:p>
        </p:txBody>
      </p:sp>
      <p:pic>
        <p:nvPicPr>
          <p:cNvPr id="19" name="Picture 3">
            <a:extLst>
              <a:ext uri="{FF2B5EF4-FFF2-40B4-BE49-F238E27FC236}">
                <a16:creationId xmlns:a16="http://schemas.microsoft.com/office/drawing/2014/main" xmlns="" id="{9A279AF2-ABFE-AF72-4B65-699A0F09E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6821" y="1185037"/>
            <a:ext cx="5369063" cy="3474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2"/>
          <p:cNvSpPr txBox="1">
            <a:spLocks noGrp="1"/>
          </p:cNvSpPr>
          <p:nvPr>
            <p:ph type="title"/>
          </p:nvPr>
        </p:nvSpPr>
        <p:spPr>
          <a:xfrm>
            <a:off x="152400" y="135611"/>
            <a:ext cx="861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000" b="1" dirty="0"/>
              <a:t>.NET ARCHITECTURE COMPONENTS </a:t>
            </a:r>
            <a:endParaRPr sz="3000" dirty="0"/>
          </a:p>
        </p:txBody>
      </p:sp>
      <p:sp>
        <p:nvSpPr>
          <p:cNvPr id="492" name="Google Shape;492;p32"/>
          <p:cNvSpPr txBox="1">
            <a:spLocks noGrp="1"/>
          </p:cNvSpPr>
          <p:nvPr>
            <p:ph type="subTitle" idx="3"/>
          </p:nvPr>
        </p:nvSpPr>
        <p:spPr>
          <a:xfrm>
            <a:off x="4758823" y="3427553"/>
            <a:ext cx="372187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follow CLS (Common Language 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Specification)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Rules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all .NET languages.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compile to IL (Intermediate Language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Then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CLR executes it.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follow CTS (Common Type 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System)</a:t>
            </a:r>
            <a:endParaRPr lang="en-IN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 a class written in C# can be used in VB.NET 	            and vice versa.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3" name="Google Shape;493;p32"/>
          <p:cNvSpPr txBox="1">
            <a:spLocks noGrp="1"/>
          </p:cNvSpPr>
          <p:nvPr>
            <p:ph type="subTitle" idx="1"/>
          </p:nvPr>
        </p:nvSpPr>
        <p:spPr>
          <a:xfrm>
            <a:off x="1280325" y="1391438"/>
            <a:ext cx="26140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ct val="85000"/>
              <a:buFont typeface="Wingdings" panose="05000000000000000000" pitchFamily="2" charset="2"/>
              <a:buChar char="ü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Executes code</a:t>
            </a:r>
          </a:p>
          <a:p>
            <a:pPr fontAlgn="ctr">
              <a:buSzPct val="85000"/>
              <a:buFont typeface="Wingdings" panose="05000000000000000000" pitchFamily="2" charset="2"/>
              <a:buChar char="ü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memory</a:t>
            </a:r>
          </a:p>
          <a:p>
            <a:pPr fontAlgn="ctr">
              <a:buSzPct val="85000"/>
              <a:buFont typeface="Wingdings" panose="05000000000000000000" pitchFamily="2" charset="2"/>
              <a:buChar char="ü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security</a:t>
            </a:r>
          </a:p>
          <a:p>
            <a:pPr fontAlgn="ctr">
              <a:buSzPct val="85000"/>
              <a:buFont typeface="Wingdings" panose="05000000000000000000" pitchFamily="2" charset="2"/>
              <a:buChar char="ü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garbage collection</a:t>
            </a:r>
          </a:p>
        </p:txBody>
      </p:sp>
      <p:sp>
        <p:nvSpPr>
          <p:cNvPr id="494" name="Google Shape;494;p32"/>
          <p:cNvSpPr txBox="1">
            <a:spLocks noGrp="1"/>
          </p:cNvSpPr>
          <p:nvPr>
            <p:ph type="subTitle" idx="2"/>
          </p:nvPr>
        </p:nvSpPr>
        <p:spPr>
          <a:xfrm>
            <a:off x="1348351" y="3531438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ct val="85000"/>
              <a:buFont typeface="Wingdings" panose="05000000000000000000" pitchFamily="2" charset="2"/>
              <a:buChar char="ü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 &amp;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F#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>
              <a:buSzPct val="85000"/>
              <a:buFont typeface="Wingdings" panose="05000000000000000000" pitchFamily="2" charset="2"/>
              <a:buChar char="ü"/>
            </a:pP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VB.NET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>
              <a:buSzPct val="85000"/>
              <a:buFont typeface="Wingdings" panose="05000000000000000000" pitchFamily="2" charset="2"/>
              <a:buChar char="ü"/>
            </a:pP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Powershell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>
              <a:buSzPct val="85000"/>
              <a:buFont typeface="Wingdings" panose="05000000000000000000" pitchFamily="2" charset="2"/>
              <a:buChar char="ü"/>
            </a:pP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IronPython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IronRuby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5" name="Google Shape;495;p32"/>
          <p:cNvSpPr txBox="1">
            <a:spLocks noGrp="1"/>
          </p:cNvSpPr>
          <p:nvPr>
            <p:ph type="subTitle" idx="4"/>
          </p:nvPr>
        </p:nvSpPr>
        <p:spPr>
          <a:xfrm>
            <a:off x="5602387" y="1362461"/>
            <a:ext cx="323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ct val="85000"/>
              <a:buFont typeface="Wingdings" panose="05000000000000000000" pitchFamily="2" charset="2"/>
              <a:buChar char="ü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collection of ready-to-use features: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>
              <a:buSzPct val="85000"/>
              <a:buFont typeface="Wingdings" panose="05000000000000000000" pitchFamily="2" charset="2"/>
              <a:buChar char="ü"/>
            </a:pP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Networking &amp; Encryption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>
              <a:buSzPct val="85000"/>
              <a:buFont typeface="Wingdings" panose="05000000000000000000" pitchFamily="2" charset="2"/>
              <a:buChar char="ü"/>
            </a:pP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Collections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(List, Dictionary)</a:t>
            </a:r>
          </a:p>
          <a:p>
            <a:pPr fontAlgn="ctr">
              <a:buSzPct val="85000"/>
              <a:buFont typeface="Wingdings" panose="05000000000000000000" pitchFamily="2" charset="2"/>
              <a:buChar char="ü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 &amp; UI controls</a:t>
            </a:r>
          </a:p>
        </p:txBody>
      </p:sp>
      <p:sp>
        <p:nvSpPr>
          <p:cNvPr id="496" name="Google Shape;496;p32"/>
          <p:cNvSpPr txBox="1">
            <a:spLocks noGrp="1"/>
          </p:cNvSpPr>
          <p:nvPr>
            <p:ph type="title" idx="5"/>
          </p:nvPr>
        </p:nvSpPr>
        <p:spPr>
          <a:xfrm>
            <a:off x="572925" y="1145112"/>
            <a:ext cx="707400" cy="123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498" name="Google Shape;498;p32"/>
          <p:cNvSpPr txBox="1">
            <a:spLocks noGrp="1"/>
          </p:cNvSpPr>
          <p:nvPr>
            <p:ph type="title" idx="7"/>
          </p:nvPr>
        </p:nvSpPr>
        <p:spPr>
          <a:xfrm>
            <a:off x="572925" y="3359088"/>
            <a:ext cx="707400" cy="123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03</a:t>
            </a:r>
            <a:endParaRPr dirty="0"/>
          </a:p>
        </p:txBody>
      </p:sp>
      <p:sp>
        <p:nvSpPr>
          <p:cNvPr id="499" name="Google Shape;499;p32"/>
          <p:cNvSpPr txBox="1">
            <a:spLocks noGrp="1"/>
          </p:cNvSpPr>
          <p:nvPr>
            <p:ph type="title" idx="8"/>
          </p:nvPr>
        </p:nvSpPr>
        <p:spPr>
          <a:xfrm>
            <a:off x="4711262" y="1139663"/>
            <a:ext cx="707400" cy="123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02</a:t>
            </a:r>
            <a:endParaRPr dirty="0"/>
          </a:p>
        </p:txBody>
      </p:sp>
      <p:sp>
        <p:nvSpPr>
          <p:cNvPr id="500" name="Google Shape;500;p32"/>
          <p:cNvSpPr txBox="1">
            <a:spLocks noGrp="1"/>
          </p:cNvSpPr>
          <p:nvPr>
            <p:ph type="subTitle" idx="9"/>
          </p:nvPr>
        </p:nvSpPr>
        <p:spPr>
          <a:xfrm>
            <a:off x="1184175" y="788749"/>
            <a:ext cx="324735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39700" indent="0">
              <a:buSzPct val="100000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CLR (Common Language Runtime)</a:t>
            </a:r>
          </a:p>
          <a:p>
            <a:pPr marL="0" indent="0">
              <a:buSzPct val="100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IN" sz="1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I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of .NET</a:t>
            </a:r>
            <a:endParaRPr lang="en-US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1" name="Google Shape;501;p32"/>
          <p:cNvSpPr txBox="1">
            <a:spLocks noGrp="1"/>
          </p:cNvSpPr>
          <p:nvPr>
            <p:ph type="subTitle" idx="13"/>
          </p:nvPr>
        </p:nvSpPr>
        <p:spPr>
          <a:xfrm>
            <a:off x="926625" y="2891025"/>
            <a:ext cx="34026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Languages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r>
              <a:rPr lang="en-US" sz="1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All 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languages compile </a:t>
            </a:r>
            <a:r>
              <a:rPr lang="en-US" sz="1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into MSIL/IL      	  and 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on CLR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2" name="Google Shape;502;p32"/>
          <p:cNvSpPr txBox="1">
            <a:spLocks noGrp="1"/>
          </p:cNvSpPr>
          <p:nvPr>
            <p:ph type="subTitle" idx="14"/>
          </p:nvPr>
        </p:nvSpPr>
        <p:spPr>
          <a:xfrm>
            <a:off x="4871199" y="2724653"/>
            <a:ext cx="36095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defTabSz="457200">
              <a:buClr>
                <a:srgbClr val="B01513"/>
              </a:buClr>
              <a:buSzTx/>
              <a:defRPr/>
            </a:pPr>
            <a:r>
              <a:rPr lang="en-US" sz="1400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ONLY THESE LANGUAGES SUPPORT .NET?</a:t>
            </a:r>
            <a:endParaRPr lang="en-US" sz="1400" dirty="0">
              <a:solidFill>
                <a:srgbClr val="0922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3" name="Google Shape;503;p32"/>
          <p:cNvSpPr txBox="1">
            <a:spLocks noGrp="1"/>
          </p:cNvSpPr>
          <p:nvPr>
            <p:ph type="subTitle" idx="15"/>
          </p:nvPr>
        </p:nvSpPr>
        <p:spPr>
          <a:xfrm>
            <a:off x="5670275" y="750649"/>
            <a:ext cx="3096625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BCL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(Base Class Library)</a:t>
            </a:r>
          </a:p>
          <a:p>
            <a:pPr marL="0" indent="0"/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collection of ready-to-use </a:t>
            </a:r>
            <a:r>
              <a:rPr lang="en-US" sz="1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US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40"/>
          <p:cNvSpPr txBox="1">
            <a:spLocks noGrp="1"/>
          </p:cNvSpPr>
          <p:nvPr>
            <p:ph type="subTitle" idx="3"/>
          </p:nvPr>
        </p:nvSpPr>
        <p:spPr>
          <a:xfrm>
            <a:off x="4593045" y="422426"/>
            <a:ext cx="3190875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altLang="en-US" sz="2000" dirty="0">
                <a:solidFill>
                  <a:srgbClr val="092241"/>
                </a:solidFill>
                <a:latin typeface="Archivo Black" panose="020B0604020202020204" charset="0"/>
                <a:cs typeface="Archivo Black" panose="020B0604020202020204" charset="0"/>
              </a:rPr>
              <a:t>.</a:t>
            </a:r>
            <a:r>
              <a:rPr lang="en-US" altLang="en-US" sz="2000" dirty="0" smtClean="0">
                <a:solidFill>
                  <a:srgbClr val="092241"/>
                </a:solidFill>
                <a:latin typeface="Archivo Black" panose="020B0604020202020204" charset="0"/>
                <a:cs typeface="Archivo Black" panose="020B0604020202020204" charset="0"/>
              </a:rPr>
              <a:t>NET CORE</a:t>
            </a:r>
            <a:endParaRPr lang="en-US" sz="2000" dirty="0">
              <a:solidFill>
                <a:srgbClr val="092241"/>
              </a:solidFill>
              <a:latin typeface="Archivo Black" panose="020B0604020202020204" charset="0"/>
              <a:cs typeface="Archivo Black" panose="020B0604020202020204" charset="0"/>
            </a:endParaRPr>
          </a:p>
        </p:txBody>
      </p:sp>
      <p:sp>
        <p:nvSpPr>
          <p:cNvPr id="702" name="Google Shape;702;p40"/>
          <p:cNvSpPr txBox="1">
            <a:spLocks noGrp="1"/>
          </p:cNvSpPr>
          <p:nvPr>
            <p:ph type="subTitle" idx="4"/>
          </p:nvPr>
        </p:nvSpPr>
        <p:spPr>
          <a:xfrm>
            <a:off x="416426" y="422426"/>
            <a:ext cx="3350503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altLang="en-US" sz="2000" dirty="0" smtClean="0">
                <a:solidFill>
                  <a:srgbClr val="092241"/>
                </a:solidFill>
                <a:latin typeface="Archivo Black" panose="020B0604020202020204" charset="0"/>
                <a:cs typeface="Archivo Black" panose="020B0604020202020204" charset="0"/>
              </a:rPr>
              <a:t>.NET FRAMEWORK</a:t>
            </a:r>
            <a:endParaRPr sz="2000" dirty="0">
              <a:solidFill>
                <a:srgbClr val="092241"/>
              </a:solidFill>
              <a:latin typeface="Archivo Black" panose="020B0604020202020204" charset="0"/>
              <a:cs typeface="Archivo Black" panose="020B060402020202020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09333"/>
              </p:ext>
            </p:extLst>
          </p:nvPr>
        </p:nvGraphicFramePr>
        <p:xfrm>
          <a:off x="200025" y="638175"/>
          <a:ext cx="4233000" cy="2088937"/>
        </p:xfrm>
        <a:graphic>
          <a:graphicData uri="http://schemas.openxmlformats.org/drawingml/2006/table">
            <a:tbl>
              <a:tblPr/>
              <a:tblGrid>
                <a:gridCol w="4233000"/>
              </a:tblGrid>
              <a:tr h="2088937"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SzPct val="85000"/>
                        <a:buFont typeface="Wingdings" panose="05000000000000000000" pitchFamily="2" charset="2"/>
                        <a:buChar char="v"/>
                      </a:pP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Platform Support: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 The </a:t>
                      </a: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.NET Framework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 is restricted to </a:t>
                      </a: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Windows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.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SzPct val="85000"/>
                        <a:buFont typeface="Wingdings" panose="05000000000000000000" pitchFamily="2" charset="2"/>
                        <a:buChar char="v"/>
                      </a:pP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Architecture and Performance: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 The </a:t>
                      </a: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.NET Framework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 uses a heavier, more </a:t>
                      </a: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monolithic architecture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 for stable Windows apps</a:t>
                      </a:r>
                      <a:endParaRPr lang="en-US" sz="1100" b="0" i="0" u="none" strike="noStrike" cap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79252"/>
              </p:ext>
            </p:extLst>
          </p:nvPr>
        </p:nvGraphicFramePr>
        <p:xfrm>
          <a:off x="4607456" y="944036"/>
          <a:ext cx="3928002" cy="1430147"/>
        </p:xfrm>
        <a:graphic>
          <a:graphicData uri="http://schemas.openxmlformats.org/drawingml/2006/table">
            <a:tbl>
              <a:tblPr/>
              <a:tblGrid>
                <a:gridCol w="3928002"/>
              </a:tblGrid>
              <a:tr h="503078"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SzPct val="85000"/>
                        <a:buFont typeface="Wingdings" panose="05000000000000000000" pitchFamily="2" charset="2"/>
                        <a:buChar char="v"/>
                      </a:pP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Platform Support: 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The</a:t>
                      </a:r>
                      <a:r>
                        <a:rPr lang="en-US" sz="1200" b="1" i="0" u="none" strike="noStrike" cap="none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</a:t>
                      </a: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.NET Core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 is </a:t>
                      </a: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cross-platform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, running on Windows, </a:t>
                      </a:r>
                      <a:r>
                        <a:rPr lang="en-US" sz="1200" b="0" i="0" u="none" strike="noStrike" cap="none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macOS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, and Linux.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SzPct val="85000"/>
                        <a:buFont typeface="Wingdings" panose="05000000000000000000" pitchFamily="2" charset="2"/>
                        <a:buChar char="v"/>
                      </a:pP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Architecture and Performance: 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The </a:t>
                      </a: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.NET Core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 is </a:t>
                      </a: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modular and lightweight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, designed for high performance in modern, cloud-based applications.</a:t>
                      </a:r>
                      <a:endParaRPr lang="en-US" sz="1200" b="0" i="0" u="none" strike="noStrike" cap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61" y="2723322"/>
            <a:ext cx="3084240" cy="22166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809" y="2723322"/>
            <a:ext cx="4035114" cy="217014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3861360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0"/>
          <p:cNvSpPr txBox="1">
            <a:spLocks noGrp="1"/>
          </p:cNvSpPr>
          <p:nvPr>
            <p:ph type="title"/>
          </p:nvPr>
        </p:nvSpPr>
        <p:spPr>
          <a:xfrm>
            <a:off x="126275" y="343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PERFORMANCE &amp; BENCHMARK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461368"/>
              </p:ext>
            </p:extLst>
          </p:nvPr>
        </p:nvGraphicFramePr>
        <p:xfrm>
          <a:off x="369308" y="1334557"/>
          <a:ext cx="7555492" cy="518160"/>
        </p:xfrm>
        <a:graphic>
          <a:graphicData uri="http://schemas.openxmlformats.org/drawingml/2006/table">
            <a:tbl>
              <a:tblPr/>
              <a:tblGrid>
                <a:gridCol w="7555492"/>
              </a:tblGrid>
              <a:tr h="459541">
                <a:tc>
                  <a:txBody>
                    <a:bodyPr/>
                    <a:lstStyle/>
                    <a:p>
                      <a:pPr marL="0" indent="0">
                        <a:buClr>
                          <a:srgbClr val="B01513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sz="1400" b="1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lang="en-US" sz="1400" b="1" baseline="0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high performance of </a:t>
                      </a:r>
                      <a:r>
                        <a:rPr lang="en-US" sz="1400" b="1" baseline="0" dirty="0" err="1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.net</a:t>
                      </a:r>
                      <a:r>
                        <a:rPr lang="en-US" sz="1400" b="1" baseline="0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a result of continuous optimization across the entire stack:</a:t>
                      </a:r>
                    </a:p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endParaRPr lang="en-US" sz="1400" b="1" dirty="0">
                        <a:solidFill>
                          <a:srgbClr val="09224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551009"/>
              </p:ext>
            </p:extLst>
          </p:nvPr>
        </p:nvGraphicFramePr>
        <p:xfrm>
          <a:off x="660931" y="1845736"/>
          <a:ext cx="3928002" cy="1733360"/>
        </p:xfrm>
        <a:graphic>
          <a:graphicData uri="http://schemas.openxmlformats.org/drawingml/2006/table">
            <a:tbl>
              <a:tblPr/>
              <a:tblGrid>
                <a:gridCol w="3928002"/>
              </a:tblGrid>
              <a:tr h="503078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200000"/>
                        </a:lnSpc>
                        <a:buClr>
                          <a:srgbClr val="092241"/>
                        </a:buClr>
                        <a:buSzPct val="85000"/>
                        <a:buFont typeface="Wingdings" panose="05000000000000000000" pitchFamily="2" charset="2"/>
                        <a:buChar char="ü"/>
                      </a:pPr>
                      <a:r>
                        <a:rPr lang="en-US" sz="1400" b="0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</a:t>
                      </a:r>
                      <a:r>
                        <a:rPr lang="en-US" sz="1400" b="0" baseline="0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profile – guided optimization 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Clr>
                          <a:srgbClr val="092241"/>
                        </a:buClr>
                        <a:buSzPct val="85000"/>
                        <a:buFont typeface="Wingdings" panose="05000000000000000000" pitchFamily="2" charset="2"/>
                        <a:buChar char="ü"/>
                      </a:pPr>
                      <a:r>
                        <a:rPr lang="en-US" sz="1400" b="0" baseline="0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Native Ahead of time(AOT) compilation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Clr>
                          <a:srgbClr val="092241"/>
                        </a:buClr>
                        <a:buSzPct val="85000"/>
                        <a:buFont typeface="Wingdings" panose="05000000000000000000" pitchFamily="2" charset="2"/>
                        <a:buChar char="ü"/>
                      </a:pPr>
                      <a:r>
                        <a:rPr lang="en-US" sz="1400" b="0" baseline="0" dirty="0" err="1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.Net</a:t>
                      </a:r>
                      <a:r>
                        <a:rPr lang="en-US" sz="1400" b="0" baseline="0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among top 3 fastest backend technologies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Clr>
                          <a:srgbClr val="092241"/>
                        </a:buClr>
                        <a:buSzPct val="85000"/>
                        <a:buFont typeface="Wingdings" panose="05000000000000000000" pitchFamily="2" charset="2"/>
                        <a:buChar char="ü"/>
                      </a:pPr>
                      <a:r>
                        <a:rPr lang="en-US" sz="1400" b="0" baseline="0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Kestrel server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890" y="2040957"/>
            <a:ext cx="3769810" cy="1585093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perspectiveLeft"/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17039421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4"/>
          <p:cNvSpPr/>
          <p:nvPr/>
        </p:nvSpPr>
        <p:spPr>
          <a:xfrm rot="-8100000" flipH="1">
            <a:off x="7675121" y="3741148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8" name="Google Shape;518;p34"/>
          <p:cNvGrpSpPr/>
          <p:nvPr/>
        </p:nvGrpSpPr>
        <p:grpSpPr>
          <a:xfrm>
            <a:off x="5100984" y="-343157"/>
            <a:ext cx="5490816" cy="5475238"/>
            <a:chOff x="5100984" y="-343157"/>
            <a:chExt cx="5490816" cy="5475238"/>
          </a:xfrm>
        </p:grpSpPr>
        <p:sp>
          <p:nvSpPr>
            <p:cNvPr id="519" name="Google Shape;519;p34"/>
            <p:cNvSpPr/>
            <p:nvPr/>
          </p:nvSpPr>
          <p:spPr>
            <a:xfrm rot="10800000">
              <a:off x="5427300" y="-11419"/>
              <a:ext cx="5164500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4"/>
            <p:cNvSpPr/>
            <p:nvPr/>
          </p:nvSpPr>
          <p:spPr>
            <a:xfrm rot="-8100410" flipH="1">
              <a:off x="7119560" y="1497006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4"/>
            <p:cNvSpPr/>
            <p:nvPr/>
          </p:nvSpPr>
          <p:spPr>
            <a:xfrm rot="-8100000" flipH="1">
              <a:off x="8492184" y="31839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4"/>
            <p:cNvSpPr/>
            <p:nvPr/>
          </p:nvSpPr>
          <p:spPr>
            <a:xfrm rot="10800000" flipH="1">
              <a:off x="6015289" y="824156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4"/>
            <p:cNvSpPr/>
            <p:nvPr/>
          </p:nvSpPr>
          <p:spPr>
            <a:xfrm rot="-8100000" flipH="1">
              <a:off x="6720959" y="1241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4"/>
            <p:cNvSpPr/>
            <p:nvPr/>
          </p:nvSpPr>
          <p:spPr>
            <a:xfrm rot="-8100410" flipH="1">
              <a:off x="4955884" y="2382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698;p40"/>
          <p:cNvSpPr txBox="1">
            <a:spLocks/>
          </p:cNvSpPr>
          <p:nvPr/>
        </p:nvSpPr>
        <p:spPr>
          <a:xfrm>
            <a:off x="170725" y="134369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2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-IN" sz="3200" b="1" dirty="0"/>
              <a:t>.</a:t>
            </a:r>
            <a:r>
              <a:rPr lang="en-IN" sz="3200" b="1" dirty="0" smtClean="0"/>
              <a:t>NET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>
                <a:latin typeface="Archivo Black" panose="020B0604020202020204" charset="0"/>
                <a:cs typeface="Archivo Black" panose="020B0604020202020204" charset="0"/>
              </a:rPr>
              <a:t>SECURITY</a:t>
            </a:r>
            <a:endParaRPr lang="en-IN" sz="3200" dirty="0">
              <a:latin typeface="Archivo Black" panose="020B0604020202020204" charset="0"/>
              <a:cs typeface="Archivo Black" panose="020B060402020202020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79298" y="941942"/>
            <a:ext cx="5721715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 err="1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US" b="1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security = protecting your app + protecting your data + protecting your users + protecting your machine.</a:t>
            </a:r>
          </a:p>
          <a:p>
            <a:pPr marL="285750" indent="-285750" algn="just">
              <a:lnSpc>
                <a:spcPct val="150000"/>
              </a:lnSpc>
              <a:buClr>
                <a:srgbClr val="092241"/>
              </a:buClr>
              <a:buSzPct val="85000"/>
              <a:buFont typeface="Wingdings" panose="05000000000000000000" pitchFamily="2" charset="2"/>
              <a:buChar char="Ø"/>
            </a:pPr>
            <a:r>
              <a:rPr lang="en-US" altLang="en-US" dirty="0" smtClean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.NET security framework architecture consists of the  </a:t>
            </a:r>
            <a:r>
              <a:rPr lang="en-US" altLang="en-US" dirty="0" smtClean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following </a:t>
            </a:r>
            <a:r>
              <a:rPr lang="en-US" alt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five core </a:t>
            </a:r>
            <a:r>
              <a:rPr lang="en-US" altLang="en-US" dirty="0" smtClean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elements:</a:t>
            </a:r>
            <a:endParaRPr lang="en-US" altLang="en-US" dirty="0">
              <a:solidFill>
                <a:srgbClr val="0922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b="1" dirty="0">
              <a:solidFill>
                <a:srgbClr val="0922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2662" y="2317343"/>
            <a:ext cx="2315057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lvl="0" indent="-285750" defTabSz="457200">
              <a:lnSpc>
                <a:spcPct val="150000"/>
              </a:lnSpc>
              <a:buClr>
                <a:srgbClr val="092241"/>
              </a:buClr>
              <a:buFont typeface="Wingdings" panose="05000000000000000000" pitchFamily="2" charset="2"/>
              <a:buChar char="ü"/>
              <a:defRPr/>
            </a:pPr>
            <a:r>
              <a:rPr lang="en-US" alt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 Based Security </a:t>
            </a:r>
            <a:endParaRPr lang="en-US" altLang="en-US" dirty="0" smtClean="0">
              <a:solidFill>
                <a:srgbClr val="0922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defTabSz="457200">
              <a:lnSpc>
                <a:spcPct val="150000"/>
              </a:lnSpc>
              <a:buClr>
                <a:srgbClr val="092241"/>
              </a:buClr>
              <a:buFont typeface="Wingdings" panose="05000000000000000000" pitchFamily="2" charset="2"/>
              <a:buChar char="ü"/>
              <a:defRPr/>
            </a:pPr>
            <a:r>
              <a:rPr lang="en-US" alt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Access Security </a:t>
            </a:r>
            <a:endParaRPr lang="en-US" dirty="0">
              <a:solidFill>
                <a:srgbClr val="0922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defTabSz="457200">
              <a:lnSpc>
                <a:spcPct val="150000"/>
              </a:lnSpc>
              <a:buClr>
                <a:srgbClr val="092241"/>
              </a:buClr>
              <a:buFont typeface="Wingdings" panose="05000000000000000000" pitchFamily="2" charset="2"/>
              <a:buChar char="ü"/>
              <a:defRPr/>
            </a:pPr>
            <a:r>
              <a:rPr lang="en-US" alt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Verification</a:t>
            </a:r>
            <a:endParaRPr lang="en-US" dirty="0">
              <a:solidFill>
                <a:srgbClr val="0922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defTabSz="457200">
              <a:lnSpc>
                <a:spcPct val="150000"/>
              </a:lnSpc>
              <a:buClr>
                <a:srgbClr val="092241"/>
              </a:buClr>
              <a:buFont typeface="Wingdings" panose="05000000000000000000" pitchFamily="2" charset="2"/>
              <a:buChar char="ü"/>
              <a:defRPr/>
            </a:pPr>
            <a:r>
              <a:rPr lang="en-US" alt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 Based Security </a:t>
            </a:r>
            <a:endParaRPr lang="en-US" dirty="0">
              <a:solidFill>
                <a:srgbClr val="0922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defTabSz="457200">
              <a:lnSpc>
                <a:spcPct val="150000"/>
              </a:lnSpc>
              <a:buClr>
                <a:srgbClr val="092241"/>
              </a:buClr>
              <a:buFont typeface="Wingdings" panose="05000000000000000000" pitchFamily="2" charset="2"/>
              <a:buChar char="ü"/>
              <a:defRPr/>
            </a:pPr>
            <a:r>
              <a:rPr lang="en-US" alt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Cryptography</a:t>
            </a:r>
            <a:endParaRPr lang="en-US" dirty="0">
              <a:solidFill>
                <a:srgbClr val="0922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457200">
              <a:lnSpc>
                <a:spcPct val="150000"/>
              </a:lnSpc>
              <a:buClr>
                <a:srgbClr val="092241"/>
              </a:buClr>
              <a:defRPr/>
            </a:pPr>
            <a:endParaRPr lang="en-US" dirty="0">
              <a:solidFill>
                <a:srgbClr val="0922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062" y="2231618"/>
            <a:ext cx="2761742" cy="1843087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perspectiveLeft"/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11275985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" name="Google Shape;456;p30"/>
          <p:cNvGrpSpPr/>
          <p:nvPr/>
        </p:nvGrpSpPr>
        <p:grpSpPr>
          <a:xfrm>
            <a:off x="4714200" y="683716"/>
            <a:ext cx="4429800" cy="4466709"/>
            <a:chOff x="4714200" y="683716"/>
            <a:chExt cx="4429800" cy="4466709"/>
          </a:xfrm>
        </p:grpSpPr>
        <p:sp>
          <p:nvSpPr>
            <p:cNvPr id="457" name="Google Shape;457;p30"/>
            <p:cNvSpPr/>
            <p:nvPr/>
          </p:nvSpPr>
          <p:spPr>
            <a:xfrm flipH="1">
              <a:off x="4714200" y="783325"/>
              <a:ext cx="4429800" cy="43671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0"/>
            <p:cNvSpPr/>
            <p:nvPr/>
          </p:nvSpPr>
          <p:spPr>
            <a:xfrm rot="-2700000">
              <a:off x="7675121" y="1303413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0"/>
            <p:cNvSpPr/>
            <p:nvPr/>
          </p:nvSpPr>
          <p:spPr>
            <a:xfrm rot="-2699590">
              <a:off x="4984509" y="3275203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0"/>
            <p:cNvSpPr/>
            <p:nvPr/>
          </p:nvSpPr>
          <p:spPr>
            <a:xfrm rot="-2699590">
              <a:off x="7108289" y="20926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0"/>
            <p:cNvSpPr/>
            <p:nvPr/>
          </p:nvSpPr>
          <p:spPr>
            <a:xfrm rot="-2699590">
              <a:off x="6792716" y="1243005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0"/>
            <p:cNvSpPr/>
            <p:nvPr/>
          </p:nvSpPr>
          <p:spPr>
            <a:xfrm rot="-2699590">
              <a:off x="5127485" y="3849460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3" name="Google Shape;463;p30"/>
          <p:cNvGrpSpPr/>
          <p:nvPr/>
        </p:nvGrpSpPr>
        <p:grpSpPr>
          <a:xfrm>
            <a:off x="2669704" y="4362225"/>
            <a:ext cx="1309796" cy="257750"/>
            <a:chOff x="-6337521" y="4362225"/>
            <a:chExt cx="1309796" cy="257750"/>
          </a:xfrm>
        </p:grpSpPr>
        <p:sp>
          <p:nvSpPr>
            <p:cNvPr id="464" name="Google Shape;464;p30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0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0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0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0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0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0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0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0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0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5" name="Google Shape;475;p30"/>
          <p:cNvGrpSpPr/>
          <p:nvPr/>
        </p:nvGrpSpPr>
        <p:grpSpPr>
          <a:xfrm>
            <a:off x="4643689" y="2814981"/>
            <a:ext cx="2188531" cy="1862750"/>
            <a:chOff x="4643689" y="2814981"/>
            <a:chExt cx="2188531" cy="1862750"/>
          </a:xfrm>
        </p:grpSpPr>
        <p:sp>
          <p:nvSpPr>
            <p:cNvPr id="476" name="Google Shape;476;p30"/>
            <p:cNvSpPr/>
            <p:nvPr/>
          </p:nvSpPr>
          <p:spPr>
            <a:xfrm rot="-2700000">
              <a:off x="5941284" y="4227394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0"/>
            <p:cNvSpPr/>
            <p:nvPr/>
          </p:nvSpPr>
          <p:spPr>
            <a:xfrm>
              <a:off x="4643689" y="2814981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1045;p55"/>
          <p:cNvSpPr txBox="1">
            <a:spLocks/>
          </p:cNvSpPr>
          <p:nvPr/>
        </p:nvSpPr>
        <p:spPr>
          <a:xfrm>
            <a:off x="217478" y="346965"/>
            <a:ext cx="46326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Black"/>
              <a:buNone/>
              <a:defRPr sz="38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Black"/>
              <a:buNone/>
              <a:defRPr sz="5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Black"/>
              <a:buNone/>
              <a:defRPr sz="5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Black"/>
              <a:buNone/>
              <a:defRPr sz="5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Black"/>
              <a:buNone/>
              <a:defRPr sz="5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Black"/>
              <a:buNone/>
              <a:defRPr sz="5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Black"/>
              <a:buNone/>
              <a:defRPr sz="5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Black"/>
              <a:buNone/>
              <a:defRPr sz="5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Black"/>
              <a:buNone/>
              <a:defRPr sz="5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-IN" sz="3200" smtClean="0"/>
              <a:t>SUMMARY</a:t>
            </a:r>
            <a:endParaRPr lang="en-IN" sz="3200" dirty="0"/>
          </a:p>
        </p:txBody>
      </p:sp>
      <p:sp>
        <p:nvSpPr>
          <p:cNvPr id="29" name="Rectangle 28"/>
          <p:cNvSpPr/>
          <p:nvPr/>
        </p:nvSpPr>
        <p:spPr>
          <a:xfrm>
            <a:off x="322067" y="1098856"/>
            <a:ext cx="5162516" cy="30429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Versatility:</a:t>
            </a:r>
            <a:r>
              <a:rPr 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Allows developers to build virtually any type of application (web, mobile, desktop, cloud, or gaming).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Modernity:</a:t>
            </a:r>
            <a:r>
              <a:rPr 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Utilizes modern tools and languages like C#.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Reliability:</a:t>
            </a:r>
            <a:r>
              <a:rPr 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Guarantees continuous upgrades, strong performance, and cross-platform support.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Efficiency:</a:t>
            </a:r>
            <a:r>
              <a:rPr 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Provides a complete ecosystem to create fast, scalable, and high-quality applications.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1" y="1703723"/>
            <a:ext cx="3538266" cy="1862245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  <a:scene3d>
            <a:camera prst="perspectiveHeroicExtremeLeftFacing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929872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4"/>
          <p:cNvSpPr/>
          <p:nvPr/>
        </p:nvSpPr>
        <p:spPr>
          <a:xfrm rot="-8100000" flipH="1">
            <a:off x="7675121" y="3741148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8" name="Google Shape;518;p34"/>
          <p:cNvGrpSpPr/>
          <p:nvPr/>
        </p:nvGrpSpPr>
        <p:grpSpPr>
          <a:xfrm>
            <a:off x="5100984" y="-343157"/>
            <a:ext cx="5490816" cy="5475238"/>
            <a:chOff x="5100984" y="-343157"/>
            <a:chExt cx="5490816" cy="5475238"/>
          </a:xfrm>
        </p:grpSpPr>
        <p:sp>
          <p:nvSpPr>
            <p:cNvPr id="519" name="Google Shape;519;p34"/>
            <p:cNvSpPr/>
            <p:nvPr/>
          </p:nvSpPr>
          <p:spPr>
            <a:xfrm rot="10800000">
              <a:off x="5427300" y="-11419"/>
              <a:ext cx="5164500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4"/>
            <p:cNvSpPr/>
            <p:nvPr/>
          </p:nvSpPr>
          <p:spPr>
            <a:xfrm rot="-8100410" flipH="1">
              <a:off x="7119560" y="1497006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4"/>
            <p:cNvSpPr/>
            <p:nvPr/>
          </p:nvSpPr>
          <p:spPr>
            <a:xfrm rot="-8100000" flipH="1">
              <a:off x="8492184" y="31839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4"/>
            <p:cNvSpPr/>
            <p:nvPr/>
          </p:nvSpPr>
          <p:spPr>
            <a:xfrm rot="10800000" flipH="1">
              <a:off x="6015289" y="824156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4"/>
            <p:cNvSpPr/>
            <p:nvPr/>
          </p:nvSpPr>
          <p:spPr>
            <a:xfrm rot="-8100000" flipH="1">
              <a:off x="6720959" y="1241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4"/>
            <p:cNvSpPr/>
            <p:nvPr/>
          </p:nvSpPr>
          <p:spPr>
            <a:xfrm rot="-8100410" flipH="1">
              <a:off x="4955884" y="2382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698;p40"/>
          <p:cNvSpPr txBox="1">
            <a:spLocks/>
          </p:cNvSpPr>
          <p:nvPr/>
        </p:nvSpPr>
        <p:spPr>
          <a:xfrm>
            <a:off x="1440000" y="211086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2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-US" sz="5400" b="1" dirty="0" smtClean="0"/>
              <a:t>THANK YOU</a:t>
            </a:r>
            <a:endParaRPr lang="en-IN" sz="5400" dirty="0">
              <a:latin typeface="Archivo Black" panose="020B0604020202020204" charset="0"/>
              <a:cs typeface="Archivo Black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824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usiness Administration School Center by Slidesgo">
  <a:themeElements>
    <a:clrScheme name="Simple Light">
      <a:dk1>
        <a:srgbClr val="092241"/>
      </a:dk1>
      <a:lt1>
        <a:srgbClr val="F8F8F8"/>
      </a:lt1>
      <a:dk2>
        <a:srgbClr val="B7B7B7"/>
      </a:dk2>
      <a:lt2>
        <a:srgbClr val="6194E6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922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550</Words>
  <Application>Microsoft Office PowerPoint</Application>
  <PresentationFormat>On-screen Show (16:9)</PresentationFormat>
  <Paragraphs>116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Manrope</vt:lpstr>
      <vt:lpstr>DM Sans</vt:lpstr>
      <vt:lpstr>Calibri</vt:lpstr>
      <vt:lpstr>Times New Roman</vt:lpstr>
      <vt:lpstr>Wingdings</vt:lpstr>
      <vt:lpstr>Archivo Black</vt:lpstr>
      <vt:lpstr>Archivo</vt:lpstr>
      <vt:lpstr>Business Administration School Center by Slidesgo</vt:lpstr>
      <vt:lpstr>.NET NETWORK ENABLED TECHNOLOGIES</vt:lpstr>
      <vt:lpstr>WHAT IS .NET?</vt:lpstr>
      <vt:lpstr>HISTORY OF .NET…</vt:lpstr>
      <vt:lpstr>MICROSOFT  C#</vt:lpstr>
      <vt:lpstr>WHY .NET?</vt:lpstr>
      <vt:lpstr>PowerPoint Presentation</vt:lpstr>
      <vt:lpstr>.NET ARCHITECTURE COMPONENTS </vt:lpstr>
      <vt:lpstr>PowerPoint Presentation</vt:lpstr>
      <vt:lpstr>PERFORMANCE &amp; BENCHMARK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.NET NETWORK ENABLED TECHNOLOGIES</dc:title>
  <cp:lastModifiedBy>Rethessh E D</cp:lastModifiedBy>
  <cp:revision>42</cp:revision>
  <dcterms:modified xsi:type="dcterms:W3CDTF">2025-11-24T10:15:51Z</dcterms:modified>
</cp:coreProperties>
</file>